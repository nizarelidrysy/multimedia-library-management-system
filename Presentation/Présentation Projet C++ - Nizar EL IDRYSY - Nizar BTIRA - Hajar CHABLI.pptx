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3" r:id="rId9"/>
    <p:sldId id="264" r:id="rId10"/>
    <p:sldId id="267" r:id="rId11"/>
    <p:sldId id="268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CEEC"/>
    <a:srgbClr val="78B0E2"/>
    <a:srgbClr val="4E95D9"/>
    <a:srgbClr val="428CD6"/>
    <a:srgbClr val="266EB0"/>
    <a:srgbClr val="1C4F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9" autoAdjust="0"/>
    <p:restoredTop sz="94710"/>
  </p:normalViewPr>
  <p:slideViewPr>
    <p:cSldViewPr snapToGrid="0">
      <p:cViewPr varScale="1">
        <p:scale>
          <a:sx n="113" d="100"/>
          <a:sy n="113" d="100"/>
        </p:scale>
        <p:origin x="520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6F0679-99E1-54EC-FE08-23AC7727B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4365A4-0E58-1552-3F4C-48CEFE065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F4C97E-B449-5A52-8E45-647956209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8AE1B3-46D5-749B-EA86-3F0E352B6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003BD0-0C1E-7731-B510-FC29F9C9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807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62556E-9FCC-36CF-97E3-AEC32B157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1D2293-49DD-04E2-0D4C-E7F4F228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8C455F-EF49-A362-7459-6207D6D5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8AEF87-ED8C-4E9D-6AE7-01870E11B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D3A549-0636-51ED-4B72-FAB2F1D0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850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F68B1-6B1C-F926-5E43-C5BD6F46F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A456A2-B5F3-A181-12B8-62A5801B7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3286B-F42E-4323-EE7C-A2435C34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BE28B5-E36B-EB2A-85DE-12659BB9F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18073-B38D-6D9D-780E-8067F1AC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66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7098DA-8EDF-5AB6-AEA2-9EDED1C8C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553E37-02CF-3C19-8DBA-BBB121A3F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C9D7EB-FA60-6B66-9240-1A960F6BF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B1241E-1409-555C-D994-B37066210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990AA1-CEE2-1B47-894B-1E478C86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606136-FFAA-03BA-E629-5BAC2C52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18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33F430-17B4-B134-4D44-C473A397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ECD208-85E0-8634-9692-0F38B1416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4D2FED-F226-9154-10F5-E5EFA7B23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76D3CB4-FE44-376A-41FB-064040177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4C141-A115-F426-D5A9-45BDA9C1D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42F0879-0878-F4D9-10A1-AF0D3A14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6FB0305-8877-027A-9D97-C59793B7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D4A829E-A71B-A63B-657C-2B31F095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15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8C7874-A02E-D1F0-B1B0-6A1679DA4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3E78EB5-B6BC-B61A-A900-1CCE85197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15990F1-22F9-B2AA-76DE-1A792BFB4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C12ACF-87DB-CA79-849B-B49884AB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13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4C251FB-83F0-23F3-9D2C-E1C69F89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34B00CF-5327-8B20-E46F-6A1D3A28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5A8229-6223-DE3C-575F-BC16AF16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3833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F77D80-9EC4-3F3E-FADB-BD354F96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E7B155-D8A6-223E-8D60-AEFD3C2E6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212653-3863-7F8B-B2B0-601E51B2F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A2050B-3BC2-B35F-945C-8C0F62503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A088DD-F932-D202-EF04-B6FDA951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C75C48-1476-1A82-1CB2-ED80A2A0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475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CB2D7-E61F-7824-1135-3DD88329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A1AA9C7-44E8-BCA9-9C1C-ADFEBE8E0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C9BB40-DE38-5156-70D8-5F07B9A01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3AB67E-B07C-8120-A023-7EAEFDB8A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8B2175-6975-CB76-EF32-5CF975B3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AB000F-4422-4854-0C33-5D36EA85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572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C97F3E-E3D7-C44C-0CFD-15BE90EC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77EFD3-6DA0-1045-BC44-4B4735700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468A8E-1B6D-2E9B-C5F9-E28627BA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D779DA-F987-C1A2-A1AF-BA6009E3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32E75A-D8E6-B1D3-39E2-F89C5D49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710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6A6FF13-DAB7-2C83-1376-AD1F128AD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642829-9EA5-9CB4-53F3-1225F87F6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19E7AE-A5C8-98D4-0078-403E79098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FE3D49-3489-BA0E-1B69-C1051D74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97F2F4-1BD0-5174-29D0-7CC79E66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68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D766722-C957-43C0-DFD5-E21E570A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36258A-2B19-1AC2-CBF1-7976BD2E3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B2D12A-E263-C474-1871-4CBEA8D7C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3A405-E25A-46ED-A88E-462DF66EF2F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87847A-9358-626F-3858-054EE90B9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E6B3B4-51B2-A238-41E5-5C757F033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3A9F2-65B5-41AD-A522-8EE38F7A550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592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chemeClr val="tx2">
                <a:lumMod val="75000"/>
                <a:lumOff val="2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6270067B-DDC6-4167-1F49-FD4387B2E566}"/>
              </a:ext>
            </a:extLst>
          </p:cNvPr>
          <p:cNvGrpSpPr/>
          <p:nvPr/>
        </p:nvGrpSpPr>
        <p:grpSpPr>
          <a:xfrm>
            <a:off x="5112243" y="625835"/>
            <a:ext cx="3514247" cy="2192111"/>
            <a:chOff x="4646527" y="-234774"/>
            <a:chExt cx="3514247" cy="2192111"/>
          </a:xfrm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grpSpPr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DFC0F954-C1B7-9C20-35CE-A0004993DD6B}"/>
                </a:ext>
              </a:extLst>
            </p:cNvPr>
            <p:cNvSpPr txBox="1">
              <a:spLocks/>
            </p:cNvSpPr>
            <p:nvPr/>
          </p:nvSpPr>
          <p:spPr>
            <a:xfrm>
              <a:off x="4646527" y="445782"/>
              <a:ext cx="19684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/>
                  </a:solidFill>
                  <a:latin typeface="Akira Expanded" panose="02000800000000000000" pitchFamily="50" charset="0"/>
                </a:rPr>
                <a:t>Media </a:t>
              </a:r>
            </a:p>
            <a:p>
              <a:pPr algn="ctr"/>
              <a:r>
                <a:rPr lang="fr-FR" sz="2400" dirty="0">
                  <a:solidFill>
                    <a:schemeClr val="bg1"/>
                  </a:solidFill>
                  <a:latin typeface="Akira Expanded" panose="02000800000000000000" pitchFamily="50" charset="0"/>
                </a:rPr>
                <a:t>Forge</a:t>
              </a:r>
            </a:p>
          </p:txBody>
        </p:sp>
        <p:pic>
          <p:nvPicPr>
            <p:cNvPr id="3" name="Image 2" descr="Une image contenant capture d’écran, Graphique, logo, texte">
              <a:extLst>
                <a:ext uri="{FF2B5EF4-FFF2-40B4-BE49-F238E27FC236}">
                  <a16:creationId xmlns:a16="http://schemas.microsoft.com/office/drawing/2014/main" id="{9199B119-D955-41C4-1A60-79EB24EF2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72" r="34808" b="37631"/>
            <a:stretch>
              <a:fillRect/>
            </a:stretch>
          </p:blipFill>
          <p:spPr>
            <a:xfrm>
              <a:off x="6096000" y="-234774"/>
              <a:ext cx="2064774" cy="2192111"/>
            </a:xfrm>
            <a:prstGeom prst="rect">
              <a:avLst/>
            </a:prstGeom>
          </p:spPr>
        </p:pic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D0EC7D2B-C2EC-33F2-3E60-D2646F20D60F}"/>
              </a:ext>
            </a:extLst>
          </p:cNvPr>
          <p:cNvSpPr txBox="1"/>
          <p:nvPr/>
        </p:nvSpPr>
        <p:spPr>
          <a:xfrm>
            <a:off x="8626490" y="4651108"/>
            <a:ext cx="2380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Supervised</a:t>
            </a:r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by :</a:t>
            </a:r>
          </a:p>
          <a:p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Youssef </a:t>
            </a:r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Jdidou</a:t>
            </a:r>
            <a:endParaRPr lang="fr-FR" sz="2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3AF2ABF-DBBF-6163-ACB5-9A4795D4FB0E}"/>
              </a:ext>
            </a:extLst>
          </p:cNvPr>
          <p:cNvSpPr txBox="1"/>
          <p:nvPr/>
        </p:nvSpPr>
        <p:spPr>
          <a:xfrm>
            <a:off x="1619140" y="4666716"/>
            <a:ext cx="6244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Presented</a:t>
            </a:r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by :</a:t>
            </a:r>
          </a:p>
          <a:p>
            <a:pPr algn="ctr"/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Nizar El </a:t>
            </a:r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Idrysy</a:t>
            </a:r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 -  Nizar </a:t>
            </a:r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Btira</a:t>
            </a:r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 -  Hajar </a:t>
            </a:r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Chabli</a:t>
            </a:r>
            <a:endParaRPr lang="fr-FR" sz="2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79F33CF-9C84-7302-2B0E-0FC0D4947C3F}"/>
              </a:ext>
            </a:extLst>
          </p:cNvPr>
          <p:cNvCxnSpPr/>
          <p:nvPr/>
        </p:nvCxnSpPr>
        <p:spPr>
          <a:xfrm>
            <a:off x="4055823" y="3429000"/>
            <a:ext cx="5867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670086E9-BF46-5089-31FC-A83E66CF1D56}"/>
              </a:ext>
            </a:extLst>
          </p:cNvPr>
          <p:cNvGrpSpPr/>
          <p:nvPr/>
        </p:nvGrpSpPr>
        <p:grpSpPr>
          <a:xfrm>
            <a:off x="-1533476" y="0"/>
            <a:ext cx="2223967" cy="6858000"/>
            <a:chOff x="10223513" y="0"/>
            <a:chExt cx="2223967" cy="6858000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D9854425-DA56-E066-2542-51F0B5182BE1}"/>
                </a:ext>
              </a:extLst>
            </p:cNvPr>
            <p:cNvGrpSpPr/>
            <p:nvPr/>
          </p:nvGrpSpPr>
          <p:grpSpPr>
            <a:xfrm>
              <a:off x="10223513" y="0"/>
              <a:ext cx="2223967" cy="6858000"/>
              <a:chOff x="10223513" y="0"/>
              <a:chExt cx="2223967" cy="685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1CE6A6C-6981-C360-F016-10F2067B8D92}"/>
                  </a:ext>
                </a:extLst>
              </p:cNvPr>
              <p:cNvSpPr/>
              <p:nvPr/>
            </p:nvSpPr>
            <p:spPr>
              <a:xfrm>
                <a:off x="10223513" y="0"/>
                <a:ext cx="1968487" cy="6858000"/>
              </a:xfrm>
              <a:prstGeom prst="rect">
                <a:avLst/>
              </a:prstGeom>
              <a:solidFill>
                <a:srgbClr val="AECEEC"/>
              </a:solidFill>
              <a:ln>
                <a:solidFill>
                  <a:srgbClr val="AECEE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4" name="Triangle isocèle 43">
                <a:extLst>
                  <a:ext uri="{FF2B5EF4-FFF2-40B4-BE49-F238E27FC236}">
                    <a16:creationId xmlns:a16="http://schemas.microsoft.com/office/drawing/2014/main" id="{67FDDD04-B70C-2EB2-45E2-F8B15339954C}"/>
                  </a:ext>
                </a:extLst>
              </p:cNvPr>
              <p:cNvSpPr/>
              <p:nvPr/>
            </p:nvSpPr>
            <p:spPr>
              <a:xfrm rot="5400000">
                <a:off x="11968217" y="800897"/>
                <a:ext cx="713232" cy="245295"/>
              </a:xfrm>
              <a:prstGeom prst="triangle">
                <a:avLst/>
              </a:prstGeom>
              <a:solidFill>
                <a:srgbClr val="AECEEC"/>
              </a:solidFill>
              <a:ln>
                <a:solidFill>
                  <a:srgbClr val="AECEE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5CB07C94-35D3-4FDC-9D11-33169D8879D1}"/>
                </a:ext>
              </a:extLst>
            </p:cNvPr>
            <p:cNvSpPr txBox="1"/>
            <p:nvPr/>
          </p:nvSpPr>
          <p:spPr>
            <a:xfrm>
              <a:off x="10233697" y="566927"/>
              <a:ext cx="195868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06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3D5564E8-F8B9-D640-777F-90483B372661}"/>
                </a:ext>
              </a:extLst>
            </p:cNvPr>
            <p:cNvSpPr txBox="1"/>
            <p:nvPr/>
          </p:nvSpPr>
          <p:spPr>
            <a:xfrm>
              <a:off x="10238407" y="2961084"/>
              <a:ext cx="195868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Conclusion and Perspectives</a:t>
              </a:r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361B2925-9167-2AAF-2CBB-156C2A01E7C1}"/>
              </a:ext>
            </a:extLst>
          </p:cNvPr>
          <p:cNvGrpSpPr/>
          <p:nvPr/>
        </p:nvGrpSpPr>
        <p:grpSpPr>
          <a:xfrm>
            <a:off x="-1840436" y="9137"/>
            <a:ext cx="2331721" cy="6858000"/>
            <a:chOff x="8137088" y="0"/>
            <a:chExt cx="2331721" cy="6858000"/>
          </a:xfrm>
        </p:grpSpPr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73EEF195-2D0B-56FA-6002-4B0D22E7AC89}"/>
                </a:ext>
              </a:extLst>
            </p:cNvPr>
            <p:cNvGrpSpPr/>
            <p:nvPr/>
          </p:nvGrpSpPr>
          <p:grpSpPr>
            <a:xfrm>
              <a:off x="8137088" y="0"/>
              <a:ext cx="2331721" cy="6858000"/>
              <a:chOff x="8137088" y="0"/>
              <a:chExt cx="2331721" cy="68580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458D89C-B7D5-80E6-68F7-960ED04E3A7D}"/>
                  </a:ext>
                </a:extLst>
              </p:cNvPr>
              <p:cNvSpPr/>
              <p:nvPr/>
            </p:nvSpPr>
            <p:spPr>
              <a:xfrm>
                <a:off x="8137088" y="0"/>
                <a:ext cx="2086425" cy="6858000"/>
              </a:xfrm>
              <a:prstGeom prst="rect">
                <a:avLst/>
              </a:prstGeom>
              <a:solidFill>
                <a:srgbClr val="78B0E2"/>
              </a:solidFill>
              <a:ln>
                <a:solidFill>
                  <a:srgbClr val="78B0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7" name="Triangle isocèle 56">
                <a:extLst>
                  <a:ext uri="{FF2B5EF4-FFF2-40B4-BE49-F238E27FC236}">
                    <a16:creationId xmlns:a16="http://schemas.microsoft.com/office/drawing/2014/main" id="{529AA558-D1A0-FB0A-9D5F-412816090884}"/>
                  </a:ext>
                </a:extLst>
              </p:cNvPr>
              <p:cNvSpPr/>
              <p:nvPr/>
            </p:nvSpPr>
            <p:spPr>
              <a:xfrm rot="5400000">
                <a:off x="9989546" y="800896"/>
                <a:ext cx="713232" cy="245295"/>
              </a:xfrm>
              <a:prstGeom prst="triangle">
                <a:avLst/>
              </a:prstGeom>
              <a:solidFill>
                <a:srgbClr val="78B0E2"/>
              </a:solidFill>
              <a:ln>
                <a:solidFill>
                  <a:srgbClr val="78B0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64657301-6A53-E394-E0A7-EC48CF1DA60B}"/>
                </a:ext>
              </a:extLst>
            </p:cNvPr>
            <p:cNvSpPr txBox="1"/>
            <p:nvPr/>
          </p:nvSpPr>
          <p:spPr>
            <a:xfrm>
              <a:off x="8143980" y="566927"/>
              <a:ext cx="206934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05</a:t>
              </a:r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A31204CD-E364-1D01-2E58-D165BFDA90BB}"/>
                </a:ext>
              </a:extLst>
            </p:cNvPr>
            <p:cNvSpPr txBox="1"/>
            <p:nvPr/>
          </p:nvSpPr>
          <p:spPr>
            <a:xfrm>
              <a:off x="8150719" y="2961084"/>
              <a:ext cx="20693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Demonstration</a:t>
              </a:r>
              <a:endParaRPr lang="fr-FR" sz="2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0A307325-B609-734E-9454-1513FBBFF528}"/>
              </a:ext>
            </a:extLst>
          </p:cNvPr>
          <p:cNvGrpSpPr/>
          <p:nvPr/>
        </p:nvGrpSpPr>
        <p:grpSpPr>
          <a:xfrm>
            <a:off x="-1921272" y="0"/>
            <a:ext cx="2223968" cy="6858000"/>
            <a:chOff x="6158415" y="0"/>
            <a:chExt cx="2223968" cy="6858000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D7585F93-034C-D30F-DF75-807C09CEC2FF}"/>
                </a:ext>
              </a:extLst>
            </p:cNvPr>
            <p:cNvGrpSpPr/>
            <p:nvPr/>
          </p:nvGrpSpPr>
          <p:grpSpPr>
            <a:xfrm>
              <a:off x="6158415" y="0"/>
              <a:ext cx="2223968" cy="6858000"/>
              <a:chOff x="6158415" y="0"/>
              <a:chExt cx="2223968" cy="685800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D5FEF07-A2A7-0619-DAA2-0F04599F658F}"/>
                  </a:ext>
                </a:extLst>
              </p:cNvPr>
              <p:cNvSpPr/>
              <p:nvPr/>
            </p:nvSpPr>
            <p:spPr>
              <a:xfrm>
                <a:off x="6158415" y="0"/>
                <a:ext cx="1978673" cy="6858000"/>
              </a:xfrm>
              <a:prstGeom prst="rect">
                <a:avLst/>
              </a:prstGeom>
              <a:solidFill>
                <a:srgbClr val="4E95D9"/>
              </a:solidFill>
              <a:ln>
                <a:solidFill>
                  <a:srgbClr val="4E95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4" name="Triangle isocèle 63">
                <a:extLst>
                  <a:ext uri="{FF2B5EF4-FFF2-40B4-BE49-F238E27FC236}">
                    <a16:creationId xmlns:a16="http://schemas.microsoft.com/office/drawing/2014/main" id="{0F9F6C06-5352-9FCB-957E-C8C617EC42D8}"/>
                  </a:ext>
                </a:extLst>
              </p:cNvPr>
              <p:cNvSpPr/>
              <p:nvPr/>
            </p:nvSpPr>
            <p:spPr>
              <a:xfrm rot="5400000">
                <a:off x="7903120" y="800897"/>
                <a:ext cx="713232" cy="245295"/>
              </a:xfrm>
              <a:prstGeom prst="triangle">
                <a:avLst/>
              </a:prstGeom>
              <a:solidFill>
                <a:srgbClr val="4E95D9"/>
              </a:solidFill>
              <a:ln>
                <a:solidFill>
                  <a:srgbClr val="4E95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8B91008D-0794-F3EF-AE41-F8ADAA3F9DCD}"/>
                </a:ext>
              </a:extLst>
            </p:cNvPr>
            <p:cNvSpPr txBox="1"/>
            <p:nvPr/>
          </p:nvSpPr>
          <p:spPr>
            <a:xfrm>
              <a:off x="6165155" y="2961084"/>
              <a:ext cx="195830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Technical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Solution and Architecture</a:t>
              </a: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FF8F1583-24D5-4446-DCAD-222E6EA39F22}"/>
                </a:ext>
              </a:extLst>
            </p:cNvPr>
            <p:cNvSpPr txBox="1"/>
            <p:nvPr/>
          </p:nvSpPr>
          <p:spPr>
            <a:xfrm>
              <a:off x="6178404" y="566926"/>
              <a:ext cx="19583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EBFB9000-B2A1-38AA-BC1C-7080E5D0AC57}"/>
              </a:ext>
            </a:extLst>
          </p:cNvPr>
          <p:cNvGrpSpPr/>
          <p:nvPr/>
        </p:nvGrpSpPr>
        <p:grpSpPr>
          <a:xfrm>
            <a:off x="-2181119" y="0"/>
            <a:ext cx="2233428" cy="6858000"/>
            <a:chOff x="4172850" y="0"/>
            <a:chExt cx="2233428" cy="6858000"/>
          </a:xfrm>
        </p:grpSpPr>
        <p:grpSp>
          <p:nvGrpSpPr>
            <p:cNvPr id="66" name="Groupe 65">
              <a:extLst>
                <a:ext uri="{FF2B5EF4-FFF2-40B4-BE49-F238E27FC236}">
                  <a16:creationId xmlns:a16="http://schemas.microsoft.com/office/drawing/2014/main" id="{EDB99AED-24A3-355F-730A-99F7BD4054DF}"/>
                </a:ext>
              </a:extLst>
            </p:cNvPr>
            <p:cNvGrpSpPr/>
            <p:nvPr/>
          </p:nvGrpSpPr>
          <p:grpSpPr>
            <a:xfrm>
              <a:off x="4172850" y="0"/>
              <a:ext cx="2233428" cy="6858000"/>
              <a:chOff x="4172850" y="0"/>
              <a:chExt cx="2233428" cy="6858000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2D5F8911-1351-A9B7-C9E3-1DA875357120}"/>
                  </a:ext>
                </a:extLst>
              </p:cNvPr>
              <p:cNvSpPr/>
              <p:nvPr/>
            </p:nvSpPr>
            <p:spPr>
              <a:xfrm>
                <a:off x="4172850" y="0"/>
                <a:ext cx="1985565" cy="6858000"/>
              </a:xfrm>
              <a:prstGeom prst="rect">
                <a:avLst/>
              </a:prstGeom>
              <a:solidFill>
                <a:srgbClr val="428CD6"/>
              </a:solidFill>
              <a:ln>
                <a:solidFill>
                  <a:srgbClr val="428CD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0" name="Triangle isocèle 69">
                <a:extLst>
                  <a:ext uri="{FF2B5EF4-FFF2-40B4-BE49-F238E27FC236}">
                    <a16:creationId xmlns:a16="http://schemas.microsoft.com/office/drawing/2014/main" id="{6E55E8CD-2009-F85F-CA92-A70A6DF35E04}"/>
                  </a:ext>
                </a:extLst>
              </p:cNvPr>
              <p:cNvSpPr/>
              <p:nvPr/>
            </p:nvSpPr>
            <p:spPr>
              <a:xfrm rot="5400000">
                <a:off x="5927015" y="800897"/>
                <a:ext cx="713232" cy="245295"/>
              </a:xfrm>
              <a:prstGeom prst="triangle">
                <a:avLst/>
              </a:prstGeom>
              <a:solidFill>
                <a:srgbClr val="428CD6"/>
              </a:solidFill>
              <a:ln>
                <a:solidFill>
                  <a:srgbClr val="428CD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0ECA6193-FB60-7734-E0BD-E86F7034FF9A}"/>
                </a:ext>
              </a:extLst>
            </p:cNvPr>
            <p:cNvSpPr txBox="1"/>
            <p:nvPr/>
          </p:nvSpPr>
          <p:spPr>
            <a:xfrm>
              <a:off x="4200113" y="566927"/>
              <a:ext cx="198299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03</a:t>
              </a:r>
            </a:p>
          </p:txBody>
        </p:sp>
        <p:sp>
          <p:nvSpPr>
            <p:cNvPr id="68" name="ZoneTexte 67">
              <a:extLst>
                <a:ext uri="{FF2B5EF4-FFF2-40B4-BE49-F238E27FC236}">
                  <a16:creationId xmlns:a16="http://schemas.microsoft.com/office/drawing/2014/main" id="{5CC98FEB-F270-0930-A825-971A26C37169}"/>
                </a:ext>
              </a:extLst>
            </p:cNvPr>
            <p:cNvSpPr txBox="1"/>
            <p:nvPr/>
          </p:nvSpPr>
          <p:spPr>
            <a:xfrm>
              <a:off x="4194505" y="2961084"/>
              <a:ext cx="198299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Analysis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Requirements</a:t>
              </a:r>
              <a:endParaRPr lang="fr-FR" sz="2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C99605F4-666C-CAAA-286A-27E9C52E4A99}"/>
              </a:ext>
            </a:extLst>
          </p:cNvPr>
          <p:cNvGrpSpPr/>
          <p:nvPr/>
        </p:nvGrpSpPr>
        <p:grpSpPr>
          <a:xfrm>
            <a:off x="-2406634" y="0"/>
            <a:ext cx="2331721" cy="6858000"/>
            <a:chOff x="2086425" y="0"/>
            <a:chExt cx="2331721" cy="6858000"/>
          </a:xfrm>
        </p:grpSpPr>
        <p:grpSp>
          <p:nvGrpSpPr>
            <p:cNvPr id="72" name="Groupe 71">
              <a:extLst>
                <a:ext uri="{FF2B5EF4-FFF2-40B4-BE49-F238E27FC236}">
                  <a16:creationId xmlns:a16="http://schemas.microsoft.com/office/drawing/2014/main" id="{4C88582A-843A-9819-CB27-5B9D8A4C0307}"/>
                </a:ext>
              </a:extLst>
            </p:cNvPr>
            <p:cNvGrpSpPr/>
            <p:nvPr/>
          </p:nvGrpSpPr>
          <p:grpSpPr>
            <a:xfrm>
              <a:off x="2086425" y="0"/>
              <a:ext cx="2331721" cy="6858000"/>
              <a:chOff x="2086425" y="0"/>
              <a:chExt cx="2331721" cy="685800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D200CB5-8D66-DAC9-8A74-958957698CDE}"/>
                  </a:ext>
                </a:extLst>
              </p:cNvPr>
              <p:cNvSpPr/>
              <p:nvPr/>
            </p:nvSpPr>
            <p:spPr>
              <a:xfrm>
                <a:off x="2086425" y="0"/>
                <a:ext cx="2086425" cy="6858000"/>
              </a:xfrm>
              <a:prstGeom prst="rect">
                <a:avLst/>
              </a:prstGeom>
              <a:solidFill>
                <a:srgbClr val="266EB0"/>
              </a:solidFill>
              <a:ln>
                <a:solidFill>
                  <a:srgbClr val="266EB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6" name="Triangle isocèle 75">
                <a:extLst>
                  <a:ext uri="{FF2B5EF4-FFF2-40B4-BE49-F238E27FC236}">
                    <a16:creationId xmlns:a16="http://schemas.microsoft.com/office/drawing/2014/main" id="{9F8766AB-D2B5-7357-A0E2-5DD279EA12DD}"/>
                  </a:ext>
                </a:extLst>
              </p:cNvPr>
              <p:cNvSpPr/>
              <p:nvPr/>
            </p:nvSpPr>
            <p:spPr>
              <a:xfrm rot="5400000">
                <a:off x="3938883" y="800896"/>
                <a:ext cx="713232" cy="245295"/>
              </a:xfrm>
              <a:prstGeom prst="triangle">
                <a:avLst/>
              </a:prstGeom>
              <a:solidFill>
                <a:srgbClr val="266EB0"/>
              </a:solidFill>
              <a:ln>
                <a:solidFill>
                  <a:srgbClr val="266EB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26A5C973-FCA7-A542-79DA-351998F1E1E1}"/>
                </a:ext>
              </a:extLst>
            </p:cNvPr>
            <p:cNvSpPr txBox="1"/>
            <p:nvPr/>
          </p:nvSpPr>
          <p:spPr>
            <a:xfrm>
              <a:off x="2113686" y="566927"/>
              <a:ext cx="205571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02</a:t>
              </a:r>
            </a:p>
          </p:txBody>
        </p:sp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7433A2AA-451C-A1DC-EF63-18E8A9EBD9F3}"/>
                </a:ext>
              </a:extLst>
            </p:cNvPr>
            <p:cNvSpPr txBox="1"/>
            <p:nvPr/>
          </p:nvSpPr>
          <p:spPr>
            <a:xfrm>
              <a:off x="2120580" y="2961084"/>
              <a:ext cx="20557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Objectives</a:t>
              </a:r>
            </a:p>
          </p:txBody>
        </p:sp>
      </p:grpSp>
      <p:grpSp>
        <p:nvGrpSpPr>
          <p:cNvPr id="77" name="Groupe 76">
            <a:extLst>
              <a:ext uri="{FF2B5EF4-FFF2-40B4-BE49-F238E27FC236}">
                <a16:creationId xmlns:a16="http://schemas.microsoft.com/office/drawing/2014/main" id="{0C115A46-5398-99E2-15E2-80D16E303B6A}"/>
              </a:ext>
            </a:extLst>
          </p:cNvPr>
          <p:cNvGrpSpPr/>
          <p:nvPr/>
        </p:nvGrpSpPr>
        <p:grpSpPr>
          <a:xfrm>
            <a:off x="-2577770" y="-9137"/>
            <a:ext cx="2331720" cy="6858000"/>
            <a:chOff x="0" y="0"/>
            <a:chExt cx="2331720" cy="6858000"/>
          </a:xfrm>
          <a:solidFill>
            <a:srgbClr val="1C4F7E"/>
          </a:solidFill>
        </p:grpSpPr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58648AFC-E978-5327-E3F2-61258C8EE8A3}"/>
                </a:ext>
              </a:extLst>
            </p:cNvPr>
            <p:cNvGrpSpPr/>
            <p:nvPr/>
          </p:nvGrpSpPr>
          <p:grpSpPr>
            <a:xfrm>
              <a:off x="0" y="0"/>
              <a:ext cx="2331720" cy="6858000"/>
              <a:chOff x="0" y="0"/>
              <a:chExt cx="2331720" cy="6858000"/>
            </a:xfrm>
            <a:grpFill/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60B97395-DE86-3169-438C-EEF8ABD86679}"/>
                  </a:ext>
                </a:extLst>
              </p:cNvPr>
              <p:cNvSpPr/>
              <p:nvPr/>
            </p:nvSpPr>
            <p:spPr>
              <a:xfrm>
                <a:off x="0" y="0"/>
                <a:ext cx="2086425" cy="6858000"/>
              </a:xfrm>
              <a:prstGeom prst="rect">
                <a:avLst/>
              </a:prstGeom>
              <a:grpFill/>
              <a:ln>
                <a:solidFill>
                  <a:srgbClr val="1C4F7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2" name="Triangle isocèle 81">
                <a:extLst>
                  <a:ext uri="{FF2B5EF4-FFF2-40B4-BE49-F238E27FC236}">
                    <a16:creationId xmlns:a16="http://schemas.microsoft.com/office/drawing/2014/main" id="{EEF9A1A5-18D8-572B-2FF6-1C72FEB5D0ED}"/>
                  </a:ext>
                </a:extLst>
              </p:cNvPr>
              <p:cNvSpPr/>
              <p:nvPr/>
            </p:nvSpPr>
            <p:spPr>
              <a:xfrm rot="5400000">
                <a:off x="1852457" y="800896"/>
                <a:ext cx="713232" cy="245295"/>
              </a:xfrm>
              <a:prstGeom prst="triangle">
                <a:avLst/>
              </a:prstGeom>
              <a:grpFill/>
              <a:ln>
                <a:solidFill>
                  <a:srgbClr val="1C4F7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2A88353C-F20C-16AB-B0C7-D67ED872D02E}"/>
                </a:ext>
              </a:extLst>
            </p:cNvPr>
            <p:cNvSpPr txBox="1"/>
            <p:nvPr/>
          </p:nvSpPr>
          <p:spPr>
            <a:xfrm>
              <a:off x="11984" y="566927"/>
              <a:ext cx="209661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01</a:t>
              </a:r>
            </a:p>
          </p:txBody>
        </p: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FC8BA01C-6CED-50EF-A1FB-74DF63196CA5}"/>
                </a:ext>
              </a:extLst>
            </p:cNvPr>
            <p:cNvSpPr txBox="1"/>
            <p:nvPr/>
          </p:nvSpPr>
          <p:spPr>
            <a:xfrm>
              <a:off x="0" y="2961084"/>
              <a:ext cx="2097510" cy="13849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Context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Problem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Statement</a:t>
              </a:r>
              <a:endParaRPr lang="fr-FR" sz="2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4093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B0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BC552-277A-13F5-0F77-6F45F56FA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e 49">
            <a:extLst>
              <a:ext uri="{FF2B5EF4-FFF2-40B4-BE49-F238E27FC236}">
                <a16:creationId xmlns:a16="http://schemas.microsoft.com/office/drawing/2014/main" id="{494ED5D5-F300-1855-A8BF-4823B00152B8}"/>
              </a:ext>
            </a:extLst>
          </p:cNvPr>
          <p:cNvGrpSpPr/>
          <p:nvPr/>
        </p:nvGrpSpPr>
        <p:grpSpPr>
          <a:xfrm>
            <a:off x="10220067" y="0"/>
            <a:ext cx="2223967" cy="6858000"/>
            <a:chOff x="10223513" y="0"/>
            <a:chExt cx="2223967" cy="6858000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427271E0-6225-4C59-C807-6897E449E977}"/>
                </a:ext>
              </a:extLst>
            </p:cNvPr>
            <p:cNvGrpSpPr/>
            <p:nvPr/>
          </p:nvGrpSpPr>
          <p:grpSpPr>
            <a:xfrm>
              <a:off x="10223513" y="0"/>
              <a:ext cx="2223967" cy="6858000"/>
              <a:chOff x="10223513" y="0"/>
              <a:chExt cx="2223967" cy="6858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35F1AD3-BD1C-A8EA-E684-C5E8AA76E9FE}"/>
                  </a:ext>
                </a:extLst>
              </p:cNvPr>
              <p:cNvSpPr/>
              <p:nvPr/>
            </p:nvSpPr>
            <p:spPr>
              <a:xfrm>
                <a:off x="10223513" y="0"/>
                <a:ext cx="1968487" cy="6858000"/>
              </a:xfrm>
              <a:prstGeom prst="rect">
                <a:avLst/>
              </a:prstGeom>
              <a:solidFill>
                <a:srgbClr val="AECEEC"/>
              </a:solidFill>
              <a:ln>
                <a:solidFill>
                  <a:srgbClr val="AECEE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Triangle isocèle 24">
                <a:extLst>
                  <a:ext uri="{FF2B5EF4-FFF2-40B4-BE49-F238E27FC236}">
                    <a16:creationId xmlns:a16="http://schemas.microsoft.com/office/drawing/2014/main" id="{951E15D5-D56E-CE91-34A8-063368C348F0}"/>
                  </a:ext>
                </a:extLst>
              </p:cNvPr>
              <p:cNvSpPr/>
              <p:nvPr/>
            </p:nvSpPr>
            <p:spPr>
              <a:xfrm rot="5400000">
                <a:off x="11968217" y="800897"/>
                <a:ext cx="713232" cy="245295"/>
              </a:xfrm>
              <a:prstGeom prst="triangle">
                <a:avLst/>
              </a:prstGeom>
              <a:solidFill>
                <a:srgbClr val="AECEEC"/>
              </a:solidFill>
              <a:ln>
                <a:solidFill>
                  <a:srgbClr val="AECEE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2E6B851E-9B8F-B183-1212-A99D50F3D0F0}"/>
                </a:ext>
              </a:extLst>
            </p:cNvPr>
            <p:cNvSpPr txBox="1"/>
            <p:nvPr/>
          </p:nvSpPr>
          <p:spPr>
            <a:xfrm>
              <a:off x="10233697" y="566927"/>
              <a:ext cx="195868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06</a:t>
              </a: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135FB5F6-37E8-2438-7399-3B867422D3CD}"/>
                </a:ext>
              </a:extLst>
            </p:cNvPr>
            <p:cNvSpPr txBox="1"/>
            <p:nvPr/>
          </p:nvSpPr>
          <p:spPr>
            <a:xfrm>
              <a:off x="10238407" y="2961084"/>
              <a:ext cx="195868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Conclusion and Perspectives</a:t>
              </a:r>
            </a:p>
          </p:txBody>
        </p:sp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398EFBB7-765C-89C8-2D1B-4329290E6F26}"/>
              </a:ext>
            </a:extLst>
          </p:cNvPr>
          <p:cNvGrpSpPr/>
          <p:nvPr/>
        </p:nvGrpSpPr>
        <p:grpSpPr>
          <a:xfrm>
            <a:off x="8137088" y="0"/>
            <a:ext cx="2331721" cy="6858000"/>
            <a:chOff x="8137088" y="0"/>
            <a:chExt cx="2331721" cy="6858000"/>
          </a:xfrm>
        </p:grpSpPr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D8B892DA-CB45-A06A-B9AD-67F30F35A687}"/>
                </a:ext>
              </a:extLst>
            </p:cNvPr>
            <p:cNvGrpSpPr/>
            <p:nvPr/>
          </p:nvGrpSpPr>
          <p:grpSpPr>
            <a:xfrm>
              <a:off x="8137088" y="0"/>
              <a:ext cx="2331721" cy="6858000"/>
              <a:chOff x="8137088" y="0"/>
              <a:chExt cx="2331721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2CE5E8F-C2A8-7BB4-0208-328D8A40377D}"/>
                  </a:ext>
                </a:extLst>
              </p:cNvPr>
              <p:cNvSpPr/>
              <p:nvPr/>
            </p:nvSpPr>
            <p:spPr>
              <a:xfrm>
                <a:off x="8137088" y="0"/>
                <a:ext cx="2086425" cy="6858000"/>
              </a:xfrm>
              <a:prstGeom prst="rect">
                <a:avLst/>
              </a:prstGeom>
              <a:solidFill>
                <a:srgbClr val="78B0E2"/>
              </a:solidFill>
              <a:ln>
                <a:solidFill>
                  <a:srgbClr val="78B0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" name="Triangle isocèle 20">
                <a:extLst>
                  <a:ext uri="{FF2B5EF4-FFF2-40B4-BE49-F238E27FC236}">
                    <a16:creationId xmlns:a16="http://schemas.microsoft.com/office/drawing/2014/main" id="{99EE2B7F-8153-300C-9CF6-E23AA450E8FB}"/>
                  </a:ext>
                </a:extLst>
              </p:cNvPr>
              <p:cNvSpPr/>
              <p:nvPr/>
            </p:nvSpPr>
            <p:spPr>
              <a:xfrm rot="5400000">
                <a:off x="9989546" y="800896"/>
                <a:ext cx="713232" cy="245295"/>
              </a:xfrm>
              <a:prstGeom prst="triangle">
                <a:avLst/>
              </a:prstGeom>
              <a:solidFill>
                <a:srgbClr val="78B0E2"/>
              </a:solidFill>
              <a:ln>
                <a:solidFill>
                  <a:srgbClr val="78B0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316200C6-D32C-6F8C-4649-3A669C5606D0}"/>
                </a:ext>
              </a:extLst>
            </p:cNvPr>
            <p:cNvSpPr txBox="1"/>
            <p:nvPr/>
          </p:nvSpPr>
          <p:spPr>
            <a:xfrm>
              <a:off x="8143980" y="566927"/>
              <a:ext cx="206934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05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D6B5308B-A349-1843-6FCB-EF26A343210E}"/>
                </a:ext>
              </a:extLst>
            </p:cNvPr>
            <p:cNvSpPr txBox="1"/>
            <p:nvPr/>
          </p:nvSpPr>
          <p:spPr>
            <a:xfrm>
              <a:off x="8150719" y="2961084"/>
              <a:ext cx="20693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Demonstration</a:t>
              </a:r>
              <a:endParaRPr lang="fr-FR" sz="2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0D894359-E38B-9A84-6AB4-3116465E5E43}"/>
              </a:ext>
            </a:extLst>
          </p:cNvPr>
          <p:cNvGrpSpPr/>
          <p:nvPr/>
        </p:nvGrpSpPr>
        <p:grpSpPr>
          <a:xfrm>
            <a:off x="6158415" y="0"/>
            <a:ext cx="2223968" cy="6858000"/>
            <a:chOff x="6158415" y="0"/>
            <a:chExt cx="2223968" cy="6858000"/>
          </a:xfrm>
        </p:grpSpPr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0791D18B-C113-D3C3-5104-643F47719020}"/>
                </a:ext>
              </a:extLst>
            </p:cNvPr>
            <p:cNvGrpSpPr/>
            <p:nvPr/>
          </p:nvGrpSpPr>
          <p:grpSpPr>
            <a:xfrm>
              <a:off x="6158415" y="0"/>
              <a:ext cx="2223968" cy="6858000"/>
              <a:chOff x="6158415" y="0"/>
              <a:chExt cx="2223968" cy="6858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066E0D7-1E60-DFB2-62BC-82DF212CFF7C}"/>
                  </a:ext>
                </a:extLst>
              </p:cNvPr>
              <p:cNvSpPr/>
              <p:nvPr/>
            </p:nvSpPr>
            <p:spPr>
              <a:xfrm>
                <a:off x="6158415" y="0"/>
                <a:ext cx="1978673" cy="6858000"/>
              </a:xfrm>
              <a:prstGeom prst="rect">
                <a:avLst/>
              </a:prstGeom>
              <a:solidFill>
                <a:srgbClr val="4E95D9"/>
              </a:solidFill>
              <a:ln>
                <a:solidFill>
                  <a:srgbClr val="4E95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Triangle isocèle 21">
                <a:extLst>
                  <a:ext uri="{FF2B5EF4-FFF2-40B4-BE49-F238E27FC236}">
                    <a16:creationId xmlns:a16="http://schemas.microsoft.com/office/drawing/2014/main" id="{52082AD4-EF24-E14E-18D8-A8A7CAE40C75}"/>
                  </a:ext>
                </a:extLst>
              </p:cNvPr>
              <p:cNvSpPr/>
              <p:nvPr/>
            </p:nvSpPr>
            <p:spPr>
              <a:xfrm rot="5400000">
                <a:off x="7903120" y="800897"/>
                <a:ext cx="713232" cy="245295"/>
              </a:xfrm>
              <a:prstGeom prst="triangle">
                <a:avLst/>
              </a:prstGeom>
              <a:solidFill>
                <a:srgbClr val="4E95D9"/>
              </a:solidFill>
              <a:ln>
                <a:solidFill>
                  <a:srgbClr val="4E95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5CFF5680-A22F-612A-DEFB-67340BBD1C11}"/>
                </a:ext>
              </a:extLst>
            </p:cNvPr>
            <p:cNvSpPr txBox="1"/>
            <p:nvPr/>
          </p:nvSpPr>
          <p:spPr>
            <a:xfrm>
              <a:off x="6165155" y="2961084"/>
              <a:ext cx="195830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Technical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Solution and Architecture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5A4F9BAE-38B9-0DE9-DE75-B0F9553BE086}"/>
                </a:ext>
              </a:extLst>
            </p:cNvPr>
            <p:cNvSpPr txBox="1"/>
            <p:nvPr/>
          </p:nvSpPr>
          <p:spPr>
            <a:xfrm>
              <a:off x="6178404" y="566926"/>
              <a:ext cx="19583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BE641187-BCBE-0E6F-A0B7-C80B13384D4E}"/>
              </a:ext>
            </a:extLst>
          </p:cNvPr>
          <p:cNvGrpSpPr/>
          <p:nvPr/>
        </p:nvGrpSpPr>
        <p:grpSpPr>
          <a:xfrm>
            <a:off x="4180470" y="9137"/>
            <a:ext cx="2233428" cy="6858000"/>
            <a:chOff x="4172850" y="0"/>
            <a:chExt cx="2233428" cy="6858000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D75796BE-A41E-A883-7172-228C1A174BDE}"/>
                </a:ext>
              </a:extLst>
            </p:cNvPr>
            <p:cNvGrpSpPr/>
            <p:nvPr/>
          </p:nvGrpSpPr>
          <p:grpSpPr>
            <a:xfrm>
              <a:off x="4172850" y="0"/>
              <a:ext cx="2233428" cy="6858000"/>
              <a:chOff x="4172850" y="0"/>
              <a:chExt cx="2233428" cy="6858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BF2061D-66B5-346C-875A-5E07AA81DBBD}"/>
                  </a:ext>
                </a:extLst>
              </p:cNvPr>
              <p:cNvSpPr/>
              <p:nvPr/>
            </p:nvSpPr>
            <p:spPr>
              <a:xfrm>
                <a:off x="4172850" y="0"/>
                <a:ext cx="1985565" cy="6858000"/>
              </a:xfrm>
              <a:prstGeom prst="rect">
                <a:avLst/>
              </a:prstGeom>
              <a:solidFill>
                <a:srgbClr val="428CD6"/>
              </a:solidFill>
              <a:ln>
                <a:solidFill>
                  <a:srgbClr val="428CD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" name="Triangle isocèle 22">
                <a:extLst>
                  <a:ext uri="{FF2B5EF4-FFF2-40B4-BE49-F238E27FC236}">
                    <a16:creationId xmlns:a16="http://schemas.microsoft.com/office/drawing/2014/main" id="{813E634A-C3BA-E4DD-B662-3E56E5685272}"/>
                  </a:ext>
                </a:extLst>
              </p:cNvPr>
              <p:cNvSpPr/>
              <p:nvPr/>
            </p:nvSpPr>
            <p:spPr>
              <a:xfrm rot="5400000">
                <a:off x="5927015" y="800897"/>
                <a:ext cx="713232" cy="245295"/>
              </a:xfrm>
              <a:prstGeom prst="triangle">
                <a:avLst/>
              </a:prstGeom>
              <a:solidFill>
                <a:srgbClr val="428CD6"/>
              </a:solidFill>
              <a:ln>
                <a:solidFill>
                  <a:srgbClr val="428CD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85557DDE-2DC7-A2C9-7209-C68B9A53A3F2}"/>
                </a:ext>
              </a:extLst>
            </p:cNvPr>
            <p:cNvSpPr txBox="1"/>
            <p:nvPr/>
          </p:nvSpPr>
          <p:spPr>
            <a:xfrm>
              <a:off x="4200113" y="566927"/>
              <a:ext cx="198299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03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10FDFA5A-D7BC-AA12-D554-71E96BB89F26}"/>
                </a:ext>
              </a:extLst>
            </p:cNvPr>
            <p:cNvSpPr txBox="1"/>
            <p:nvPr/>
          </p:nvSpPr>
          <p:spPr>
            <a:xfrm>
              <a:off x="4194505" y="2961084"/>
              <a:ext cx="198299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Analysis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Requirements</a:t>
              </a:r>
              <a:endParaRPr lang="fr-FR" sz="2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5BA3D674-47E5-E430-4AAE-3DB520DAEB5A}"/>
              </a:ext>
            </a:extLst>
          </p:cNvPr>
          <p:cNvGrpSpPr/>
          <p:nvPr/>
        </p:nvGrpSpPr>
        <p:grpSpPr>
          <a:xfrm>
            <a:off x="2086425" y="0"/>
            <a:ext cx="2331721" cy="6858000"/>
            <a:chOff x="2086425" y="0"/>
            <a:chExt cx="2331721" cy="6858000"/>
          </a:xfrm>
        </p:grpSpPr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8037B7C5-617D-84B5-E572-AB41B5244CC0}"/>
                </a:ext>
              </a:extLst>
            </p:cNvPr>
            <p:cNvGrpSpPr/>
            <p:nvPr/>
          </p:nvGrpSpPr>
          <p:grpSpPr>
            <a:xfrm>
              <a:off x="2086425" y="0"/>
              <a:ext cx="2331721" cy="6858000"/>
              <a:chOff x="2086425" y="0"/>
              <a:chExt cx="2331721" cy="6858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0B71180-3443-AFF7-C0F9-D59C456D6847}"/>
                  </a:ext>
                </a:extLst>
              </p:cNvPr>
              <p:cNvSpPr/>
              <p:nvPr/>
            </p:nvSpPr>
            <p:spPr>
              <a:xfrm>
                <a:off x="2086425" y="0"/>
                <a:ext cx="2086425" cy="6858000"/>
              </a:xfrm>
              <a:prstGeom prst="rect">
                <a:avLst/>
              </a:prstGeom>
              <a:solidFill>
                <a:srgbClr val="266EB0"/>
              </a:solidFill>
              <a:ln>
                <a:solidFill>
                  <a:srgbClr val="266EB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Triangle isocèle 23">
                <a:extLst>
                  <a:ext uri="{FF2B5EF4-FFF2-40B4-BE49-F238E27FC236}">
                    <a16:creationId xmlns:a16="http://schemas.microsoft.com/office/drawing/2014/main" id="{B9993995-079F-7030-E9C5-AAA27F1B0DB3}"/>
                  </a:ext>
                </a:extLst>
              </p:cNvPr>
              <p:cNvSpPr/>
              <p:nvPr/>
            </p:nvSpPr>
            <p:spPr>
              <a:xfrm rot="5400000">
                <a:off x="3938883" y="800896"/>
                <a:ext cx="713232" cy="245295"/>
              </a:xfrm>
              <a:prstGeom prst="triangle">
                <a:avLst/>
              </a:prstGeom>
              <a:solidFill>
                <a:srgbClr val="266EB0"/>
              </a:solidFill>
              <a:ln>
                <a:solidFill>
                  <a:srgbClr val="266EB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117C6AA7-FA52-BD40-9ED2-B6B6244D08C4}"/>
                </a:ext>
              </a:extLst>
            </p:cNvPr>
            <p:cNvSpPr txBox="1"/>
            <p:nvPr/>
          </p:nvSpPr>
          <p:spPr>
            <a:xfrm>
              <a:off x="2113686" y="566927"/>
              <a:ext cx="205571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02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D2C64E67-9F3A-CD6A-46C9-5CAF287E5734}"/>
                </a:ext>
              </a:extLst>
            </p:cNvPr>
            <p:cNvSpPr txBox="1"/>
            <p:nvPr/>
          </p:nvSpPr>
          <p:spPr>
            <a:xfrm>
              <a:off x="2120580" y="2961084"/>
              <a:ext cx="20557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Objectives</a:t>
              </a: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EF73F0BA-DC1E-E027-FCA9-62779BA717E7}"/>
              </a:ext>
            </a:extLst>
          </p:cNvPr>
          <p:cNvGrpSpPr/>
          <p:nvPr/>
        </p:nvGrpSpPr>
        <p:grpSpPr>
          <a:xfrm>
            <a:off x="0" y="0"/>
            <a:ext cx="2331720" cy="6858000"/>
            <a:chOff x="0" y="0"/>
            <a:chExt cx="2331720" cy="6858000"/>
          </a:xfrm>
          <a:solidFill>
            <a:srgbClr val="1C4F7E"/>
          </a:solidFill>
        </p:grpSpPr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7F7F8A22-E998-6A55-7480-8C5073EDA033}"/>
                </a:ext>
              </a:extLst>
            </p:cNvPr>
            <p:cNvGrpSpPr/>
            <p:nvPr/>
          </p:nvGrpSpPr>
          <p:grpSpPr>
            <a:xfrm>
              <a:off x="0" y="0"/>
              <a:ext cx="2331720" cy="6858000"/>
              <a:chOff x="0" y="0"/>
              <a:chExt cx="2331720" cy="6858000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4EE7CBB-21C8-3661-42A7-1A0FC979B5B8}"/>
                  </a:ext>
                </a:extLst>
              </p:cNvPr>
              <p:cNvSpPr/>
              <p:nvPr/>
            </p:nvSpPr>
            <p:spPr>
              <a:xfrm>
                <a:off x="0" y="0"/>
                <a:ext cx="2086425" cy="6858000"/>
              </a:xfrm>
              <a:prstGeom prst="rect">
                <a:avLst/>
              </a:prstGeom>
              <a:grpFill/>
              <a:ln>
                <a:solidFill>
                  <a:srgbClr val="1C4F7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" name="Triangle isocèle 19">
                <a:extLst>
                  <a:ext uri="{FF2B5EF4-FFF2-40B4-BE49-F238E27FC236}">
                    <a16:creationId xmlns:a16="http://schemas.microsoft.com/office/drawing/2014/main" id="{0C52BC30-4FC8-E61B-69E6-C2509F0A318A}"/>
                  </a:ext>
                </a:extLst>
              </p:cNvPr>
              <p:cNvSpPr/>
              <p:nvPr/>
            </p:nvSpPr>
            <p:spPr>
              <a:xfrm rot="5400000">
                <a:off x="1852457" y="800896"/>
                <a:ext cx="713232" cy="245295"/>
              </a:xfrm>
              <a:prstGeom prst="triangle">
                <a:avLst/>
              </a:prstGeom>
              <a:grpFill/>
              <a:ln>
                <a:solidFill>
                  <a:srgbClr val="1C4F7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176612A4-998A-92EE-4E7F-C20A44C427CA}"/>
                </a:ext>
              </a:extLst>
            </p:cNvPr>
            <p:cNvSpPr txBox="1"/>
            <p:nvPr/>
          </p:nvSpPr>
          <p:spPr>
            <a:xfrm>
              <a:off x="11984" y="566927"/>
              <a:ext cx="209661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01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1FE08FAD-F7D6-D2CC-C555-714756463B74}"/>
                </a:ext>
              </a:extLst>
            </p:cNvPr>
            <p:cNvSpPr txBox="1"/>
            <p:nvPr/>
          </p:nvSpPr>
          <p:spPr>
            <a:xfrm>
              <a:off x="0" y="2961084"/>
              <a:ext cx="2097510" cy="13849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Context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Problem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Statement</a:t>
              </a:r>
              <a:endParaRPr lang="fr-FR" sz="2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AFC7689D-ECA7-938C-A5C1-8A01035C7D86}"/>
              </a:ext>
            </a:extLst>
          </p:cNvPr>
          <p:cNvSpPr txBox="1"/>
          <p:nvPr/>
        </p:nvSpPr>
        <p:spPr>
          <a:xfrm>
            <a:off x="11204310" y="6027002"/>
            <a:ext cx="949622" cy="707886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0904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rgbClr val="1C4F7E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38C14A27-8684-8422-3636-01F33336F564}"/>
              </a:ext>
            </a:extLst>
          </p:cNvPr>
          <p:cNvGrpSpPr/>
          <p:nvPr/>
        </p:nvGrpSpPr>
        <p:grpSpPr>
          <a:xfrm rot="5400000">
            <a:off x="-2177143" y="-2235202"/>
            <a:ext cx="4093029" cy="4122058"/>
            <a:chOff x="-2177143" y="-2235202"/>
            <a:chExt cx="4093029" cy="4122058"/>
          </a:xfrm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5F7EA1B1-31DA-C2B0-75FC-96C99DD86F69}"/>
                </a:ext>
              </a:extLst>
            </p:cNvPr>
            <p:cNvGrpSpPr/>
            <p:nvPr/>
          </p:nvGrpSpPr>
          <p:grpSpPr>
            <a:xfrm rot="5400000">
              <a:off x="-2191657" y="-2220688"/>
              <a:ext cx="4122058" cy="4093029"/>
              <a:chOff x="-2191657" y="-2220688"/>
              <a:chExt cx="4122058" cy="4093029"/>
            </a:xfrm>
          </p:grpSpPr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EB988554-FC84-EDCA-D325-6E6A75BA4445}"/>
                  </a:ext>
                </a:extLst>
              </p:cNvPr>
              <p:cNvGrpSpPr/>
              <p:nvPr/>
            </p:nvGrpSpPr>
            <p:grpSpPr>
              <a:xfrm rot="5400000">
                <a:off x="-2177143" y="-2235202"/>
                <a:ext cx="4093029" cy="4122058"/>
                <a:chOff x="-2177143" y="-2235202"/>
                <a:chExt cx="4093029" cy="4122058"/>
              </a:xfrm>
            </p:grpSpPr>
            <p:grpSp>
              <p:nvGrpSpPr>
                <p:cNvPr id="8" name="Groupe 7">
                  <a:extLst>
                    <a:ext uri="{FF2B5EF4-FFF2-40B4-BE49-F238E27FC236}">
                      <a16:creationId xmlns:a16="http://schemas.microsoft.com/office/drawing/2014/main" id="{1FAA1370-2CE0-4AFC-6352-002C20D79E78}"/>
                    </a:ext>
                  </a:extLst>
                </p:cNvPr>
                <p:cNvGrpSpPr/>
                <p:nvPr/>
              </p:nvGrpSpPr>
              <p:grpSpPr>
                <a:xfrm rot="5400000">
                  <a:off x="-2191657" y="-2220688"/>
                  <a:ext cx="4122058" cy="4093029"/>
                  <a:chOff x="-2191657" y="-2220688"/>
                  <a:chExt cx="4122058" cy="4093029"/>
                </a:xfrm>
              </p:grpSpPr>
              <p:sp useBgFill="1">
                <p:nvSpPr>
                  <p:cNvPr id="6" name="Organigramme : Jonction de sommaire 5">
                    <a:extLst>
                      <a:ext uri="{FF2B5EF4-FFF2-40B4-BE49-F238E27FC236}">
                        <a16:creationId xmlns:a16="http://schemas.microsoft.com/office/drawing/2014/main" id="{D200254B-7C90-414E-0CEF-0A758B3BB74F}"/>
                      </a:ext>
                    </a:extLst>
                  </p:cNvPr>
                  <p:cNvSpPr/>
                  <p:nvPr/>
                </p:nvSpPr>
                <p:spPr>
                  <a:xfrm rot="2714901">
                    <a:off x="-2177143" y="-2235202"/>
                    <a:ext cx="4093029" cy="4122058"/>
                  </a:xfrm>
                  <a:prstGeom prst="flowChartSummingJunction">
                    <a:avLst/>
                  </a:prstGeom>
                  <a:ln w="12700">
                    <a:solidFill>
                      <a:schemeClr val="bg1"/>
                    </a:solidFill>
                  </a:ln>
                  <a:effectLst>
                    <a:outerShdw blurRad="50800" dist="38100" dir="2700000" sx="101000" sy="101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" name="ZoneTexte 6">
                    <a:extLst>
                      <a:ext uri="{FF2B5EF4-FFF2-40B4-BE49-F238E27FC236}">
                        <a16:creationId xmlns:a16="http://schemas.microsoft.com/office/drawing/2014/main" id="{47A9B48D-35A0-425F-9D4B-52E46B2E3F0B}"/>
                      </a:ext>
                    </a:extLst>
                  </p:cNvPr>
                  <p:cNvSpPr txBox="1"/>
                  <p:nvPr/>
                </p:nvSpPr>
                <p:spPr>
                  <a:xfrm>
                    <a:off x="377372" y="116113"/>
                    <a:ext cx="127725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7200" dirty="0">
                        <a:solidFill>
                          <a:schemeClr val="bg1"/>
                        </a:solidFill>
                        <a:latin typeface="Bahnschrift Condensed" panose="020B0502040204020203" pitchFamily="34" charset="0"/>
                      </a:rPr>
                      <a:t>01</a:t>
                    </a:r>
                  </a:p>
                </p:txBody>
              </p:sp>
            </p:grpSp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103C9EA1-7A08-35AB-BFA5-65D6D729D65E}"/>
                    </a:ext>
                  </a:extLst>
                </p:cNvPr>
                <p:cNvSpPr txBox="1"/>
                <p:nvPr/>
              </p:nvSpPr>
              <p:spPr>
                <a:xfrm>
                  <a:off x="354242" y="140060"/>
                  <a:ext cx="127725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200" dirty="0">
                      <a:solidFill>
                        <a:schemeClr val="bg1"/>
                      </a:solidFill>
                      <a:latin typeface="Bahnschrift Condensed" panose="020B0502040204020203" pitchFamily="34" charset="0"/>
                    </a:rPr>
                    <a:t>02</a:t>
                  </a:r>
                </a:p>
              </p:txBody>
            </p:sp>
          </p:grp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6F95CE15-1809-E5E9-D926-421DA15CE809}"/>
                  </a:ext>
                </a:extLst>
              </p:cNvPr>
              <p:cNvSpPr txBox="1"/>
              <p:nvPr/>
            </p:nvSpPr>
            <p:spPr>
              <a:xfrm>
                <a:off x="306436" y="-5083"/>
                <a:ext cx="12772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75AA0A14-77E7-2A40-155D-16B846C99945}"/>
                </a:ext>
              </a:extLst>
            </p:cNvPr>
            <p:cNvSpPr txBox="1"/>
            <p:nvPr/>
          </p:nvSpPr>
          <p:spPr>
            <a:xfrm>
              <a:off x="364404" y="0"/>
              <a:ext cx="12772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3F28C352-A8B6-3418-3D7E-053A9F7E75E2}"/>
              </a:ext>
            </a:extLst>
          </p:cNvPr>
          <p:cNvGrpSpPr/>
          <p:nvPr/>
        </p:nvGrpSpPr>
        <p:grpSpPr>
          <a:xfrm>
            <a:off x="2343652" y="590156"/>
            <a:ext cx="7322862" cy="4817817"/>
            <a:chOff x="2343652" y="590156"/>
            <a:chExt cx="7322862" cy="4817817"/>
          </a:xfrm>
        </p:grpSpPr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DB592A23-0C6B-3E3C-7538-46A9CD367BE8}"/>
                </a:ext>
              </a:extLst>
            </p:cNvPr>
            <p:cNvSpPr txBox="1"/>
            <p:nvPr/>
          </p:nvSpPr>
          <p:spPr>
            <a:xfrm>
              <a:off x="2888343" y="590156"/>
              <a:ext cx="677817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Context</a:t>
              </a:r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Problem</a:t>
              </a:r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Statement</a:t>
              </a:r>
              <a:endParaRPr lang="fr-FR" sz="4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2803930F-B715-562B-F272-5F879946BD85}"/>
                </a:ext>
              </a:extLst>
            </p:cNvPr>
            <p:cNvSpPr txBox="1"/>
            <p:nvPr/>
          </p:nvSpPr>
          <p:spPr>
            <a:xfrm>
              <a:off x="2343652" y="2730317"/>
              <a:ext cx="669433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Develop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"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MediaForge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," a C++ application to -automate  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library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management.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Handle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loans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returns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instantly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Create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 OOP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hierarchy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for all media types.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Ensure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permanent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storage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using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text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files.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Generate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reports and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audiovisual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statistics</a:t>
              </a:r>
              <a:endParaRPr lang="fr-FR" sz="28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BFDFFEA0-C120-0BA2-23BF-397FA0746EA9}"/>
              </a:ext>
            </a:extLst>
          </p:cNvPr>
          <p:cNvGrpSpPr/>
          <p:nvPr/>
        </p:nvGrpSpPr>
        <p:grpSpPr>
          <a:xfrm>
            <a:off x="2362947" y="-5980509"/>
            <a:ext cx="7466105" cy="4436916"/>
            <a:chOff x="2343652" y="971057"/>
            <a:chExt cx="7466105" cy="4436916"/>
          </a:xfrm>
        </p:grpSpPr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5E8D3744-3694-0DF5-8C1B-9C38654B737C}"/>
                </a:ext>
              </a:extLst>
            </p:cNvPr>
            <p:cNvSpPr txBox="1"/>
            <p:nvPr/>
          </p:nvSpPr>
          <p:spPr>
            <a:xfrm>
              <a:off x="2516329" y="971057"/>
              <a:ext cx="729342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Objectives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28BE7470-B5FA-D04A-E4CD-B497B386DD54}"/>
                </a:ext>
              </a:extLst>
            </p:cNvPr>
            <p:cNvSpPr txBox="1"/>
            <p:nvPr/>
          </p:nvSpPr>
          <p:spPr>
            <a:xfrm>
              <a:off x="2343652" y="2730317"/>
              <a:ext cx="7293428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Develop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"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MediaForge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," a C++ application to -automate  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library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management.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Handle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loans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returns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instantly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Create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 OOP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hierarchy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for all media types.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Ensure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permanent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storage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using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text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files.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Generate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reports and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audiovisual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statistics</a:t>
              </a:r>
              <a:endParaRPr lang="fr-FR" sz="28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D1A20F59-5915-244F-B9C3-FB8AE47D7A36}"/>
              </a:ext>
            </a:extLst>
          </p:cNvPr>
          <p:cNvSpPr txBox="1"/>
          <p:nvPr/>
        </p:nvSpPr>
        <p:spPr>
          <a:xfrm>
            <a:off x="11204310" y="6027002"/>
            <a:ext cx="949622" cy="707886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8000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rgbClr val="266EB0"/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5ACA9-4E11-0C3E-5973-6FF5D8CFE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0ACF22B5-51CE-DDE2-186C-DE7A340E2B2A}"/>
              </a:ext>
            </a:extLst>
          </p:cNvPr>
          <p:cNvGrpSpPr/>
          <p:nvPr/>
        </p:nvGrpSpPr>
        <p:grpSpPr>
          <a:xfrm rot="10800000">
            <a:off x="-2177143" y="-2235202"/>
            <a:ext cx="4093029" cy="4122058"/>
            <a:chOff x="-2177143" y="-2235202"/>
            <a:chExt cx="4093029" cy="4122058"/>
          </a:xfrm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292F70CE-4BD2-2167-26C7-6377E192B4E8}"/>
                </a:ext>
              </a:extLst>
            </p:cNvPr>
            <p:cNvGrpSpPr/>
            <p:nvPr/>
          </p:nvGrpSpPr>
          <p:grpSpPr>
            <a:xfrm rot="5400000">
              <a:off x="-2191657" y="-2220688"/>
              <a:ext cx="4122058" cy="4093029"/>
              <a:chOff x="-2191657" y="-2220688"/>
              <a:chExt cx="4122058" cy="4093029"/>
            </a:xfrm>
          </p:grpSpPr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A068513D-1C99-4E82-A1F1-51466952EA1D}"/>
                  </a:ext>
                </a:extLst>
              </p:cNvPr>
              <p:cNvGrpSpPr/>
              <p:nvPr/>
            </p:nvGrpSpPr>
            <p:grpSpPr>
              <a:xfrm rot="5400000">
                <a:off x="-2177143" y="-2235202"/>
                <a:ext cx="4093029" cy="4122058"/>
                <a:chOff x="-2177143" y="-2235202"/>
                <a:chExt cx="4093029" cy="4122058"/>
              </a:xfrm>
            </p:grpSpPr>
            <p:grpSp>
              <p:nvGrpSpPr>
                <p:cNvPr id="8" name="Groupe 7">
                  <a:extLst>
                    <a:ext uri="{FF2B5EF4-FFF2-40B4-BE49-F238E27FC236}">
                      <a16:creationId xmlns:a16="http://schemas.microsoft.com/office/drawing/2014/main" id="{9C35CA48-62BA-7749-01B2-40D50A43D655}"/>
                    </a:ext>
                  </a:extLst>
                </p:cNvPr>
                <p:cNvGrpSpPr/>
                <p:nvPr/>
              </p:nvGrpSpPr>
              <p:grpSpPr>
                <a:xfrm rot="5400000">
                  <a:off x="-2191657" y="-2220688"/>
                  <a:ext cx="4122058" cy="4093029"/>
                  <a:chOff x="-2191657" y="-2220688"/>
                  <a:chExt cx="4122058" cy="4093029"/>
                </a:xfrm>
              </p:grpSpPr>
              <p:sp useBgFill="1">
                <p:nvSpPr>
                  <p:cNvPr id="6" name="Organigramme : Jonction de sommaire 5">
                    <a:extLst>
                      <a:ext uri="{FF2B5EF4-FFF2-40B4-BE49-F238E27FC236}">
                        <a16:creationId xmlns:a16="http://schemas.microsoft.com/office/drawing/2014/main" id="{CCF802A4-6E50-2799-CA96-DBB9987C7CF8}"/>
                      </a:ext>
                    </a:extLst>
                  </p:cNvPr>
                  <p:cNvSpPr/>
                  <p:nvPr/>
                </p:nvSpPr>
                <p:spPr>
                  <a:xfrm rot="2714901">
                    <a:off x="-2177143" y="-2235202"/>
                    <a:ext cx="4093029" cy="4122058"/>
                  </a:xfrm>
                  <a:prstGeom prst="flowChartSummingJunction">
                    <a:avLst/>
                  </a:prstGeom>
                  <a:ln w="12700">
                    <a:solidFill>
                      <a:schemeClr val="bg1"/>
                    </a:solidFill>
                  </a:ln>
                  <a:effectLst>
                    <a:outerShdw blurRad="50800" dist="38100" dir="2700000" sx="101000" sy="101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" name="ZoneTexte 6">
                    <a:extLst>
                      <a:ext uri="{FF2B5EF4-FFF2-40B4-BE49-F238E27FC236}">
                        <a16:creationId xmlns:a16="http://schemas.microsoft.com/office/drawing/2014/main" id="{002B0EFE-EB78-42DE-C8FF-9279C4228553}"/>
                      </a:ext>
                    </a:extLst>
                  </p:cNvPr>
                  <p:cNvSpPr txBox="1"/>
                  <p:nvPr/>
                </p:nvSpPr>
                <p:spPr>
                  <a:xfrm>
                    <a:off x="377372" y="116113"/>
                    <a:ext cx="127725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7200" dirty="0">
                        <a:solidFill>
                          <a:schemeClr val="bg1"/>
                        </a:solidFill>
                        <a:latin typeface="Bahnschrift Condensed" panose="020B0502040204020203" pitchFamily="34" charset="0"/>
                      </a:rPr>
                      <a:t>01</a:t>
                    </a:r>
                  </a:p>
                </p:txBody>
              </p:sp>
            </p:grpSp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3F4CBEA5-E4DF-1266-173D-D8DB930FBBB8}"/>
                    </a:ext>
                  </a:extLst>
                </p:cNvPr>
                <p:cNvSpPr txBox="1"/>
                <p:nvPr/>
              </p:nvSpPr>
              <p:spPr>
                <a:xfrm>
                  <a:off x="354242" y="140060"/>
                  <a:ext cx="127725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200" dirty="0">
                      <a:solidFill>
                        <a:schemeClr val="bg1"/>
                      </a:solidFill>
                      <a:latin typeface="Bahnschrift Condensed" panose="020B0502040204020203" pitchFamily="34" charset="0"/>
                    </a:rPr>
                    <a:t>02</a:t>
                  </a:r>
                </a:p>
              </p:txBody>
            </p:sp>
          </p:grp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6FFCE36A-0D76-FC8E-2168-98100661151F}"/>
                  </a:ext>
                </a:extLst>
              </p:cNvPr>
              <p:cNvSpPr txBox="1"/>
              <p:nvPr/>
            </p:nvSpPr>
            <p:spPr>
              <a:xfrm>
                <a:off x="306436" y="-5083"/>
                <a:ext cx="12772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F064470C-141A-210A-5ED2-BFA6FFFA1D09}"/>
                </a:ext>
              </a:extLst>
            </p:cNvPr>
            <p:cNvSpPr txBox="1"/>
            <p:nvPr/>
          </p:nvSpPr>
          <p:spPr>
            <a:xfrm>
              <a:off x="364404" y="0"/>
              <a:ext cx="12772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A8C2998D-1AE8-4BB2-9B65-477FDC4490F5}"/>
              </a:ext>
            </a:extLst>
          </p:cNvPr>
          <p:cNvGrpSpPr/>
          <p:nvPr/>
        </p:nvGrpSpPr>
        <p:grpSpPr>
          <a:xfrm>
            <a:off x="2343652" y="971057"/>
            <a:ext cx="7466105" cy="4436916"/>
            <a:chOff x="2343652" y="971057"/>
            <a:chExt cx="7466105" cy="4436916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78A26A23-5CA4-4A2F-A61A-A77A5B182423}"/>
                </a:ext>
              </a:extLst>
            </p:cNvPr>
            <p:cNvSpPr txBox="1"/>
            <p:nvPr/>
          </p:nvSpPr>
          <p:spPr>
            <a:xfrm>
              <a:off x="2516329" y="971057"/>
              <a:ext cx="729342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Objectives</a:t>
              </a:r>
            </a:p>
          </p:txBody>
        </p:sp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9FEA46DE-0716-AF4E-CD1F-595FEC9BB0D4}"/>
                </a:ext>
              </a:extLst>
            </p:cNvPr>
            <p:cNvSpPr txBox="1"/>
            <p:nvPr/>
          </p:nvSpPr>
          <p:spPr>
            <a:xfrm>
              <a:off x="2343652" y="2730317"/>
              <a:ext cx="7293428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Develop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"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MediaForge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," a C++ application to -automate  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library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management.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Handle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loans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returns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instantly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Create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 OOP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hierarchy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for all media types.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Ensure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permanent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storage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using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text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files.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Generate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reports and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audiovisual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statistics</a:t>
              </a:r>
              <a:endParaRPr lang="fr-FR" sz="28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6C61BCAE-B239-817E-D07E-1889257CCD56}"/>
              </a:ext>
            </a:extLst>
          </p:cNvPr>
          <p:cNvGrpSpPr/>
          <p:nvPr/>
        </p:nvGrpSpPr>
        <p:grpSpPr>
          <a:xfrm>
            <a:off x="2434569" y="8035985"/>
            <a:ext cx="7322862" cy="4817817"/>
            <a:chOff x="2343652" y="590156"/>
            <a:chExt cx="7322862" cy="4817817"/>
          </a:xfrm>
        </p:grpSpPr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F3AD4289-EAD6-74FA-C87D-72A68F5C5465}"/>
                </a:ext>
              </a:extLst>
            </p:cNvPr>
            <p:cNvSpPr txBox="1"/>
            <p:nvPr/>
          </p:nvSpPr>
          <p:spPr>
            <a:xfrm>
              <a:off x="2888343" y="590156"/>
              <a:ext cx="677817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Context</a:t>
              </a:r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Problem</a:t>
              </a:r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Statement</a:t>
              </a:r>
              <a:endParaRPr lang="fr-FR" sz="4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9912C96E-5221-0975-A036-4ADEAA20DCE9}"/>
                </a:ext>
              </a:extLst>
            </p:cNvPr>
            <p:cNvSpPr txBox="1"/>
            <p:nvPr/>
          </p:nvSpPr>
          <p:spPr>
            <a:xfrm>
              <a:off x="2343652" y="2730317"/>
              <a:ext cx="669433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Develop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"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MediaForge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," a C++ application to -automate  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library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management.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Handle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loans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returns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instantly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Create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 OOP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hierarchy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for all media types.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Ensure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permanent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storage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using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text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files.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Generate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reports and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audiovisual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statistics</a:t>
              </a:r>
              <a:endParaRPr lang="fr-FR" sz="28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B03A9831-B749-CF05-2DCC-8361F1C0E8AF}"/>
              </a:ext>
            </a:extLst>
          </p:cNvPr>
          <p:cNvGrpSpPr/>
          <p:nvPr/>
        </p:nvGrpSpPr>
        <p:grpSpPr>
          <a:xfrm>
            <a:off x="2732517" y="-5049684"/>
            <a:ext cx="7271656" cy="4329824"/>
            <a:chOff x="2460172" y="764660"/>
            <a:chExt cx="7271656" cy="4329824"/>
          </a:xfrm>
        </p:grpSpPr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0633B85F-C345-C8CE-9AF5-F237E9420AC9}"/>
                </a:ext>
              </a:extLst>
            </p:cNvPr>
            <p:cNvSpPr txBox="1"/>
            <p:nvPr/>
          </p:nvSpPr>
          <p:spPr>
            <a:xfrm>
              <a:off x="2460172" y="764660"/>
              <a:ext cx="727165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Analysis</a:t>
              </a:r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Requirements</a:t>
              </a:r>
              <a:endParaRPr lang="fr-FR" sz="4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281F220D-4D50-7219-AAB2-265377974CA0}"/>
                </a:ext>
              </a:extLst>
            </p:cNvPr>
            <p:cNvSpPr txBox="1"/>
            <p:nvPr/>
          </p:nvSpPr>
          <p:spPr>
            <a:xfrm>
              <a:off x="4339765" y="3093936"/>
              <a:ext cx="3512469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-Content management</a:t>
              </a:r>
            </a:p>
            <a:p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-The user </a:t>
              </a:r>
              <a:r>
                <a:rPr lang="fr-FR" sz="32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experience</a:t>
              </a:r>
              <a:endParaRPr lang="fr-FR" sz="32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  <a:p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-The  </a:t>
              </a:r>
              <a:r>
                <a:rPr lang="fr-FR" sz="32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transactional</a:t>
              </a:r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32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logic</a:t>
              </a:r>
              <a:endParaRPr lang="fr-FR" sz="32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  <a:p>
              <a:endParaRPr lang="fr-FR" sz="28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35D18C10-50EF-68A9-0746-D3CA5470158D}"/>
              </a:ext>
            </a:extLst>
          </p:cNvPr>
          <p:cNvSpPr txBox="1"/>
          <p:nvPr/>
        </p:nvSpPr>
        <p:spPr>
          <a:xfrm>
            <a:off x="11204310" y="6027002"/>
            <a:ext cx="949622" cy="707886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30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rgbClr val="428CD6"/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05C65-9096-1DFA-D7D0-512A54FBC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5B0D4A1F-DDF6-2BAB-458C-1276DFF407B4}"/>
              </a:ext>
            </a:extLst>
          </p:cNvPr>
          <p:cNvGrpSpPr/>
          <p:nvPr/>
        </p:nvGrpSpPr>
        <p:grpSpPr>
          <a:xfrm rot="16200000">
            <a:off x="-2177143" y="-2235202"/>
            <a:ext cx="4093029" cy="4122058"/>
            <a:chOff x="-2177143" y="-2235202"/>
            <a:chExt cx="4093029" cy="4122058"/>
          </a:xfrm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24B8DF5F-241C-8CC4-5750-125C88D15BD7}"/>
                </a:ext>
              </a:extLst>
            </p:cNvPr>
            <p:cNvGrpSpPr/>
            <p:nvPr/>
          </p:nvGrpSpPr>
          <p:grpSpPr>
            <a:xfrm rot="5400000">
              <a:off x="-2191657" y="-2220688"/>
              <a:ext cx="4122058" cy="4093029"/>
              <a:chOff x="-2191657" y="-2220688"/>
              <a:chExt cx="4122058" cy="4093029"/>
            </a:xfrm>
          </p:grpSpPr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E8BE7ACB-BF0C-7184-76F6-E442D0BBC40D}"/>
                  </a:ext>
                </a:extLst>
              </p:cNvPr>
              <p:cNvGrpSpPr/>
              <p:nvPr/>
            </p:nvGrpSpPr>
            <p:grpSpPr>
              <a:xfrm rot="5400000">
                <a:off x="-2177143" y="-2235202"/>
                <a:ext cx="4093029" cy="4122058"/>
                <a:chOff x="-2177143" y="-2235202"/>
                <a:chExt cx="4093029" cy="4122058"/>
              </a:xfrm>
            </p:grpSpPr>
            <p:grpSp>
              <p:nvGrpSpPr>
                <p:cNvPr id="8" name="Groupe 7">
                  <a:extLst>
                    <a:ext uri="{FF2B5EF4-FFF2-40B4-BE49-F238E27FC236}">
                      <a16:creationId xmlns:a16="http://schemas.microsoft.com/office/drawing/2014/main" id="{BBEB4833-4993-409E-505E-F8C9501AF285}"/>
                    </a:ext>
                  </a:extLst>
                </p:cNvPr>
                <p:cNvGrpSpPr/>
                <p:nvPr/>
              </p:nvGrpSpPr>
              <p:grpSpPr>
                <a:xfrm rot="5400000">
                  <a:off x="-2191657" y="-2220688"/>
                  <a:ext cx="4122058" cy="4093029"/>
                  <a:chOff x="-2191657" y="-2220688"/>
                  <a:chExt cx="4122058" cy="4093029"/>
                </a:xfrm>
              </p:grpSpPr>
              <p:sp useBgFill="1">
                <p:nvSpPr>
                  <p:cNvPr id="6" name="Organigramme : Jonction de sommaire 5">
                    <a:extLst>
                      <a:ext uri="{FF2B5EF4-FFF2-40B4-BE49-F238E27FC236}">
                        <a16:creationId xmlns:a16="http://schemas.microsoft.com/office/drawing/2014/main" id="{20454400-8E78-9B08-C0E1-92F3271B5749}"/>
                      </a:ext>
                    </a:extLst>
                  </p:cNvPr>
                  <p:cNvSpPr/>
                  <p:nvPr/>
                </p:nvSpPr>
                <p:spPr>
                  <a:xfrm rot="2714901">
                    <a:off x="-2177143" y="-2235202"/>
                    <a:ext cx="4093029" cy="4122058"/>
                  </a:xfrm>
                  <a:prstGeom prst="flowChartSummingJunction">
                    <a:avLst/>
                  </a:prstGeom>
                  <a:ln w="12700">
                    <a:solidFill>
                      <a:schemeClr val="bg1"/>
                    </a:solidFill>
                  </a:ln>
                  <a:effectLst>
                    <a:outerShdw blurRad="50800" dist="38100" dir="2700000" sx="101000" sy="101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" name="ZoneTexte 6">
                    <a:extLst>
                      <a:ext uri="{FF2B5EF4-FFF2-40B4-BE49-F238E27FC236}">
                        <a16:creationId xmlns:a16="http://schemas.microsoft.com/office/drawing/2014/main" id="{F0AE044F-B0DA-CC66-E4EC-A53A6D5B0882}"/>
                      </a:ext>
                    </a:extLst>
                  </p:cNvPr>
                  <p:cNvSpPr txBox="1"/>
                  <p:nvPr/>
                </p:nvSpPr>
                <p:spPr>
                  <a:xfrm>
                    <a:off x="377372" y="116113"/>
                    <a:ext cx="127725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7200" dirty="0">
                        <a:solidFill>
                          <a:schemeClr val="bg1"/>
                        </a:solidFill>
                        <a:latin typeface="Bahnschrift Condensed" panose="020B0502040204020203" pitchFamily="34" charset="0"/>
                      </a:rPr>
                      <a:t>01</a:t>
                    </a:r>
                  </a:p>
                </p:txBody>
              </p:sp>
            </p:grpSp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A9A9FC49-F1B5-EB2C-BF91-9B26B3137EB7}"/>
                    </a:ext>
                  </a:extLst>
                </p:cNvPr>
                <p:cNvSpPr txBox="1"/>
                <p:nvPr/>
              </p:nvSpPr>
              <p:spPr>
                <a:xfrm>
                  <a:off x="354242" y="140060"/>
                  <a:ext cx="127725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200" dirty="0">
                      <a:solidFill>
                        <a:schemeClr val="bg1"/>
                      </a:solidFill>
                      <a:latin typeface="Bahnschrift Condensed" panose="020B0502040204020203" pitchFamily="34" charset="0"/>
                    </a:rPr>
                    <a:t>02</a:t>
                  </a:r>
                </a:p>
              </p:txBody>
            </p:sp>
          </p:grp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5EC5A29D-666D-A0A3-E402-530BA55125F7}"/>
                  </a:ext>
                </a:extLst>
              </p:cNvPr>
              <p:cNvSpPr txBox="1"/>
              <p:nvPr/>
            </p:nvSpPr>
            <p:spPr>
              <a:xfrm>
                <a:off x="306436" y="-5083"/>
                <a:ext cx="12772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2A0CD76C-D278-05C3-65D1-2D8654795C1B}"/>
                </a:ext>
              </a:extLst>
            </p:cNvPr>
            <p:cNvSpPr txBox="1"/>
            <p:nvPr/>
          </p:nvSpPr>
          <p:spPr>
            <a:xfrm>
              <a:off x="364404" y="0"/>
              <a:ext cx="12772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9305DDE0-61EB-BFFF-56B4-7A629681BBA2}"/>
              </a:ext>
            </a:extLst>
          </p:cNvPr>
          <p:cNvGrpSpPr/>
          <p:nvPr/>
        </p:nvGrpSpPr>
        <p:grpSpPr>
          <a:xfrm>
            <a:off x="2460172" y="764660"/>
            <a:ext cx="7271656" cy="4329824"/>
            <a:chOff x="2460172" y="764660"/>
            <a:chExt cx="7271656" cy="4329824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9F0602CB-F3CD-3999-6B64-7F1C05580BE9}"/>
                </a:ext>
              </a:extLst>
            </p:cNvPr>
            <p:cNvSpPr txBox="1"/>
            <p:nvPr/>
          </p:nvSpPr>
          <p:spPr>
            <a:xfrm>
              <a:off x="2460172" y="764660"/>
              <a:ext cx="727165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Analysis</a:t>
              </a:r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Requirements</a:t>
              </a:r>
              <a:endParaRPr lang="fr-FR" sz="4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0C2070FE-0153-D673-1E6C-F2317B24E798}"/>
                </a:ext>
              </a:extLst>
            </p:cNvPr>
            <p:cNvSpPr txBox="1"/>
            <p:nvPr/>
          </p:nvSpPr>
          <p:spPr>
            <a:xfrm>
              <a:off x="4339765" y="3093936"/>
              <a:ext cx="3512469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-Content management</a:t>
              </a:r>
            </a:p>
            <a:p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-The user </a:t>
              </a:r>
              <a:r>
                <a:rPr lang="fr-FR" sz="32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experience</a:t>
              </a:r>
              <a:endParaRPr lang="fr-FR" sz="32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  <a:p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-The  </a:t>
              </a:r>
              <a:r>
                <a:rPr lang="fr-FR" sz="32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transactional</a:t>
              </a:r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32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logic</a:t>
              </a:r>
              <a:endParaRPr lang="fr-FR" sz="32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  <a:p>
              <a:endParaRPr lang="fr-FR" sz="28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062F342A-2D72-23EF-03C9-CD747B225B52}"/>
              </a:ext>
            </a:extLst>
          </p:cNvPr>
          <p:cNvGrpSpPr/>
          <p:nvPr/>
        </p:nvGrpSpPr>
        <p:grpSpPr>
          <a:xfrm>
            <a:off x="2362946" y="8050283"/>
            <a:ext cx="7466105" cy="4436916"/>
            <a:chOff x="2343652" y="971057"/>
            <a:chExt cx="7466105" cy="4436916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6288592C-2941-1FD6-216E-C5BE48FCC3B9}"/>
                </a:ext>
              </a:extLst>
            </p:cNvPr>
            <p:cNvSpPr txBox="1"/>
            <p:nvPr/>
          </p:nvSpPr>
          <p:spPr>
            <a:xfrm>
              <a:off x="2516329" y="971057"/>
              <a:ext cx="729342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Objectives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E62A9798-B2FF-E6A8-18CF-3CDA7F770097}"/>
                </a:ext>
              </a:extLst>
            </p:cNvPr>
            <p:cNvSpPr txBox="1"/>
            <p:nvPr/>
          </p:nvSpPr>
          <p:spPr>
            <a:xfrm>
              <a:off x="2343652" y="2730317"/>
              <a:ext cx="7293428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Develop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"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MediaForge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," a C++ application to -automate  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library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management.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Handle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loans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returns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instantly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Create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 OOP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hierarchy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for all media types.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Ensure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permanent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storage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using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text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files.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Generate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reports and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audiovisual</a:t>
              </a: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statistics</a:t>
              </a:r>
              <a:endParaRPr lang="fr-FR" sz="28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574DD34-506E-A22E-D49A-AEABD1462FB1}"/>
              </a:ext>
            </a:extLst>
          </p:cNvPr>
          <p:cNvGrpSpPr/>
          <p:nvPr/>
        </p:nvGrpSpPr>
        <p:grpSpPr>
          <a:xfrm>
            <a:off x="1311346" y="-5015614"/>
            <a:ext cx="9569305" cy="3670840"/>
            <a:chOff x="1311347" y="901519"/>
            <a:chExt cx="9569305" cy="3670840"/>
          </a:xfrm>
        </p:grpSpPr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9CA58C1D-7DC4-6891-2AD9-3D1036DC8DC7}"/>
                </a:ext>
              </a:extLst>
            </p:cNvPr>
            <p:cNvSpPr txBox="1"/>
            <p:nvPr/>
          </p:nvSpPr>
          <p:spPr>
            <a:xfrm>
              <a:off x="2460172" y="901519"/>
              <a:ext cx="746522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Technical</a:t>
              </a:r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Solution and Architecture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5A56F32C-A2D6-F4C1-8C34-ADA6F049FFF5}"/>
                </a:ext>
              </a:extLst>
            </p:cNvPr>
            <p:cNvSpPr txBox="1"/>
            <p:nvPr/>
          </p:nvSpPr>
          <p:spPr>
            <a:xfrm>
              <a:off x="1311347" y="2756477"/>
              <a:ext cx="956930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-Due to console limitations, media playback is handled through external applications to ensure a smooth user experience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en-US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The interface uses ANSI escape codes and cursor control to render a dynamic, colored terminal UI from a single managed screen state</a:t>
              </a:r>
              <a:endParaRPr lang="fr-FR" sz="28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60EE52BE-6841-EF08-3C3D-51EE696714A0}"/>
              </a:ext>
            </a:extLst>
          </p:cNvPr>
          <p:cNvSpPr txBox="1"/>
          <p:nvPr/>
        </p:nvSpPr>
        <p:spPr>
          <a:xfrm>
            <a:off x="11204310" y="6027002"/>
            <a:ext cx="949622" cy="707886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70295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rgbClr val="4E95D9"/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BC4F3-1C6A-70F7-77FD-35799BC78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2DE07D6F-9309-EE43-5111-CD4358989BEC}"/>
              </a:ext>
            </a:extLst>
          </p:cNvPr>
          <p:cNvGrpSpPr/>
          <p:nvPr/>
        </p:nvGrpSpPr>
        <p:grpSpPr>
          <a:xfrm>
            <a:off x="-2135047" y="-2246447"/>
            <a:ext cx="4093029" cy="4122058"/>
            <a:chOff x="-2177143" y="-2235202"/>
            <a:chExt cx="4093029" cy="4122058"/>
          </a:xfrm>
          <a:effectLst/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D656929F-70B7-AB00-2579-8B08DA6DAA7F}"/>
                </a:ext>
              </a:extLst>
            </p:cNvPr>
            <p:cNvGrpSpPr/>
            <p:nvPr/>
          </p:nvGrpSpPr>
          <p:grpSpPr>
            <a:xfrm rot="5400000">
              <a:off x="-2191657" y="-2220688"/>
              <a:ext cx="4122058" cy="4093029"/>
              <a:chOff x="-2191657" y="-2220688"/>
              <a:chExt cx="4122058" cy="4093029"/>
            </a:xfrm>
          </p:grpSpPr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DB7126B7-05ED-DBF9-F7F6-9F16E9C0F7AC}"/>
                  </a:ext>
                </a:extLst>
              </p:cNvPr>
              <p:cNvGrpSpPr/>
              <p:nvPr/>
            </p:nvGrpSpPr>
            <p:grpSpPr>
              <a:xfrm rot="5400000">
                <a:off x="-2177143" y="-2235202"/>
                <a:ext cx="4093029" cy="4122058"/>
                <a:chOff x="-2177143" y="-2235202"/>
                <a:chExt cx="4093029" cy="4122058"/>
              </a:xfrm>
            </p:grpSpPr>
            <p:grpSp>
              <p:nvGrpSpPr>
                <p:cNvPr id="8" name="Groupe 7">
                  <a:extLst>
                    <a:ext uri="{FF2B5EF4-FFF2-40B4-BE49-F238E27FC236}">
                      <a16:creationId xmlns:a16="http://schemas.microsoft.com/office/drawing/2014/main" id="{C314DAE6-2DD9-A501-76FE-367B3D05E2F7}"/>
                    </a:ext>
                  </a:extLst>
                </p:cNvPr>
                <p:cNvGrpSpPr/>
                <p:nvPr/>
              </p:nvGrpSpPr>
              <p:grpSpPr>
                <a:xfrm rot="5400000">
                  <a:off x="-2191657" y="-2220688"/>
                  <a:ext cx="4122058" cy="4093029"/>
                  <a:chOff x="-2191657" y="-2220688"/>
                  <a:chExt cx="4122058" cy="4093029"/>
                </a:xfrm>
              </p:grpSpPr>
              <p:sp useBgFill="1">
                <p:nvSpPr>
                  <p:cNvPr id="6" name="Organigramme : Jonction de sommaire 5">
                    <a:extLst>
                      <a:ext uri="{FF2B5EF4-FFF2-40B4-BE49-F238E27FC236}">
                        <a16:creationId xmlns:a16="http://schemas.microsoft.com/office/drawing/2014/main" id="{C51F0D98-9140-CBB1-2719-9BB74C377C08}"/>
                      </a:ext>
                    </a:extLst>
                  </p:cNvPr>
                  <p:cNvSpPr/>
                  <p:nvPr/>
                </p:nvSpPr>
                <p:spPr>
                  <a:xfrm rot="2714901">
                    <a:off x="-2177143" y="-2235202"/>
                    <a:ext cx="4093029" cy="4122058"/>
                  </a:xfrm>
                  <a:prstGeom prst="flowChartSummingJunction">
                    <a:avLst/>
                  </a:prstGeom>
                  <a:ln w="12700">
                    <a:solidFill>
                      <a:schemeClr val="bg1"/>
                    </a:solidFill>
                  </a:ln>
                  <a:effectLst>
                    <a:outerShdw blurRad="50800" dist="38100" dir="2700000" sx="101000" sy="101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  <p:sp>
                <p:nvSpPr>
                  <p:cNvPr id="7" name="ZoneTexte 6">
                    <a:extLst>
                      <a:ext uri="{FF2B5EF4-FFF2-40B4-BE49-F238E27FC236}">
                        <a16:creationId xmlns:a16="http://schemas.microsoft.com/office/drawing/2014/main" id="{8221C0EE-F891-46B3-0822-7A428AF92D91}"/>
                      </a:ext>
                    </a:extLst>
                  </p:cNvPr>
                  <p:cNvSpPr txBox="1"/>
                  <p:nvPr/>
                </p:nvSpPr>
                <p:spPr>
                  <a:xfrm>
                    <a:off x="377372" y="116113"/>
                    <a:ext cx="127725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7200" dirty="0">
                        <a:solidFill>
                          <a:schemeClr val="bg1"/>
                        </a:solidFill>
                        <a:latin typeface="Bahnschrift Condensed" panose="020B0502040204020203" pitchFamily="34" charset="0"/>
                      </a:rPr>
                      <a:t>01</a:t>
                    </a:r>
                  </a:p>
                </p:txBody>
              </p:sp>
            </p:grpSp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0793B64F-8C06-A90A-5496-404C317DC613}"/>
                    </a:ext>
                  </a:extLst>
                </p:cNvPr>
                <p:cNvSpPr txBox="1"/>
                <p:nvPr/>
              </p:nvSpPr>
              <p:spPr>
                <a:xfrm>
                  <a:off x="354242" y="140060"/>
                  <a:ext cx="127725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200" dirty="0">
                      <a:solidFill>
                        <a:schemeClr val="bg1"/>
                      </a:solidFill>
                      <a:latin typeface="Bahnschrift Condensed" panose="020B0502040204020203" pitchFamily="34" charset="0"/>
                    </a:rPr>
                    <a:t>02</a:t>
                  </a:r>
                </a:p>
              </p:txBody>
            </p:sp>
          </p:grp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181DBB3E-71B5-08CF-447B-4A07B9915AD7}"/>
                  </a:ext>
                </a:extLst>
              </p:cNvPr>
              <p:cNvSpPr txBox="1"/>
              <p:nvPr/>
            </p:nvSpPr>
            <p:spPr>
              <a:xfrm>
                <a:off x="306436" y="-5083"/>
                <a:ext cx="12772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EB0D5E8E-AB20-47E0-E74E-4C59B2F89915}"/>
                </a:ext>
              </a:extLst>
            </p:cNvPr>
            <p:cNvSpPr txBox="1"/>
            <p:nvPr/>
          </p:nvSpPr>
          <p:spPr>
            <a:xfrm>
              <a:off x="364404" y="0"/>
              <a:ext cx="12772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27FDC5AF-6844-CF46-9F1C-541B5B2704AA}"/>
              </a:ext>
            </a:extLst>
          </p:cNvPr>
          <p:cNvGrpSpPr/>
          <p:nvPr/>
        </p:nvGrpSpPr>
        <p:grpSpPr>
          <a:xfrm>
            <a:off x="-2135048" y="-2246447"/>
            <a:ext cx="4093029" cy="4122058"/>
            <a:chOff x="-2177143" y="-2235202"/>
            <a:chExt cx="4093029" cy="4122058"/>
          </a:xfrm>
          <a:effectLst/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7B2EEB5-FC37-1ECC-A571-8324AE85EE44}"/>
                </a:ext>
              </a:extLst>
            </p:cNvPr>
            <p:cNvGrpSpPr/>
            <p:nvPr/>
          </p:nvGrpSpPr>
          <p:grpSpPr>
            <a:xfrm rot="5400000">
              <a:off x="-2191657" y="-2220688"/>
              <a:ext cx="4122058" cy="4093029"/>
              <a:chOff x="-2191657" y="-2220688"/>
              <a:chExt cx="4122058" cy="4093029"/>
            </a:xfrm>
          </p:grpSpPr>
          <p:grpSp>
            <p:nvGrpSpPr>
              <p:cNvPr id="11" name="Groupe 10">
                <a:extLst>
                  <a:ext uri="{FF2B5EF4-FFF2-40B4-BE49-F238E27FC236}">
                    <a16:creationId xmlns:a16="http://schemas.microsoft.com/office/drawing/2014/main" id="{36BE9911-5490-68BC-4750-4091FC4E6F3B}"/>
                  </a:ext>
                </a:extLst>
              </p:cNvPr>
              <p:cNvGrpSpPr/>
              <p:nvPr/>
            </p:nvGrpSpPr>
            <p:grpSpPr>
              <a:xfrm rot="5400000">
                <a:off x="-2177143" y="-2235202"/>
                <a:ext cx="4093029" cy="4122058"/>
                <a:chOff x="-2177143" y="-2235202"/>
                <a:chExt cx="4093029" cy="4122058"/>
              </a:xfrm>
            </p:grpSpPr>
            <p:grpSp>
              <p:nvGrpSpPr>
                <p:cNvPr id="13" name="Groupe 12">
                  <a:extLst>
                    <a:ext uri="{FF2B5EF4-FFF2-40B4-BE49-F238E27FC236}">
                      <a16:creationId xmlns:a16="http://schemas.microsoft.com/office/drawing/2014/main" id="{FB7771FE-CD6E-4466-C003-8F33C1E9175E}"/>
                    </a:ext>
                  </a:extLst>
                </p:cNvPr>
                <p:cNvGrpSpPr/>
                <p:nvPr/>
              </p:nvGrpSpPr>
              <p:grpSpPr>
                <a:xfrm rot="5400000">
                  <a:off x="-2191657" y="-2220688"/>
                  <a:ext cx="4122058" cy="4093029"/>
                  <a:chOff x="-2191657" y="-2220688"/>
                  <a:chExt cx="4122058" cy="4093029"/>
                </a:xfrm>
              </p:grpSpPr>
              <p:sp useBgFill="1">
                <p:nvSpPr>
                  <p:cNvPr id="21" name="Organigramme : Jonction de sommaire 20">
                    <a:extLst>
                      <a:ext uri="{FF2B5EF4-FFF2-40B4-BE49-F238E27FC236}">
                        <a16:creationId xmlns:a16="http://schemas.microsoft.com/office/drawing/2014/main" id="{176120B6-0274-8ED1-A621-A2A310EE8A4B}"/>
                      </a:ext>
                    </a:extLst>
                  </p:cNvPr>
                  <p:cNvSpPr/>
                  <p:nvPr/>
                </p:nvSpPr>
                <p:spPr>
                  <a:xfrm rot="2714901">
                    <a:off x="-2177143" y="-2235202"/>
                    <a:ext cx="4093029" cy="4122058"/>
                  </a:xfrm>
                  <a:prstGeom prst="flowChartSummingJunction">
                    <a:avLst/>
                  </a:prstGeom>
                  <a:ln w="12700">
                    <a:solidFill>
                      <a:schemeClr val="bg1"/>
                    </a:solidFill>
                  </a:ln>
                  <a:effectLst>
                    <a:outerShdw blurRad="50800" dist="38100" dir="2700000" sx="101000" sy="101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2" name="ZoneTexte 21">
                    <a:extLst>
                      <a:ext uri="{FF2B5EF4-FFF2-40B4-BE49-F238E27FC236}">
                        <a16:creationId xmlns:a16="http://schemas.microsoft.com/office/drawing/2014/main" id="{C3B83CC7-B2A6-A605-8A77-A3A4309A7807}"/>
                      </a:ext>
                    </a:extLst>
                  </p:cNvPr>
                  <p:cNvSpPr txBox="1"/>
                  <p:nvPr/>
                </p:nvSpPr>
                <p:spPr>
                  <a:xfrm>
                    <a:off x="377372" y="116113"/>
                    <a:ext cx="127725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7200" dirty="0">
                        <a:solidFill>
                          <a:schemeClr val="bg1"/>
                        </a:solidFill>
                        <a:latin typeface="Bahnschrift Condensed" panose="020B0502040204020203" pitchFamily="34" charset="0"/>
                      </a:rPr>
                      <a:t>05</a:t>
                    </a:r>
                  </a:p>
                </p:txBody>
              </p:sp>
            </p:grpSp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B6406230-C3D4-933E-B40E-1757BB8EB8A2}"/>
                    </a:ext>
                  </a:extLst>
                </p:cNvPr>
                <p:cNvSpPr txBox="1"/>
                <p:nvPr/>
              </p:nvSpPr>
              <p:spPr>
                <a:xfrm>
                  <a:off x="354242" y="140060"/>
                  <a:ext cx="127725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200" dirty="0">
                      <a:solidFill>
                        <a:schemeClr val="bg1"/>
                      </a:solidFill>
                      <a:latin typeface="Bahnschrift Condensed" panose="020B0502040204020203" pitchFamily="34" charset="0"/>
                    </a:rPr>
                    <a:t>06</a:t>
                  </a:r>
                </a:p>
              </p:txBody>
            </p:sp>
          </p:grp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24307497-0373-1D37-CC36-AB9C546FC1E4}"/>
                  </a:ext>
                </a:extLst>
              </p:cNvPr>
              <p:cNvSpPr txBox="1"/>
              <p:nvPr/>
            </p:nvSpPr>
            <p:spPr>
              <a:xfrm>
                <a:off x="306436" y="-5083"/>
                <a:ext cx="12772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40243CBA-CB58-A6D1-DA1D-D9958AD11A6E}"/>
                </a:ext>
              </a:extLst>
            </p:cNvPr>
            <p:cNvSpPr txBox="1"/>
            <p:nvPr/>
          </p:nvSpPr>
          <p:spPr>
            <a:xfrm>
              <a:off x="364404" y="0"/>
              <a:ext cx="12772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550F1DCD-767D-1634-B2DA-AE175722BF14}"/>
              </a:ext>
            </a:extLst>
          </p:cNvPr>
          <p:cNvGrpSpPr/>
          <p:nvPr/>
        </p:nvGrpSpPr>
        <p:grpSpPr>
          <a:xfrm>
            <a:off x="1311347" y="901519"/>
            <a:ext cx="9569305" cy="3670840"/>
            <a:chOff x="1311347" y="901519"/>
            <a:chExt cx="9569305" cy="3670840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4FBD43DA-993E-A92E-B489-1E457EFC7444}"/>
                </a:ext>
              </a:extLst>
            </p:cNvPr>
            <p:cNvSpPr txBox="1"/>
            <p:nvPr/>
          </p:nvSpPr>
          <p:spPr>
            <a:xfrm>
              <a:off x="2460172" y="901519"/>
              <a:ext cx="746522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Technical</a:t>
              </a:r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Solution and Architecture</a:t>
              </a: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270BDF29-6FC9-0394-5A3B-C21BB7F12676}"/>
                </a:ext>
              </a:extLst>
            </p:cNvPr>
            <p:cNvSpPr txBox="1"/>
            <p:nvPr/>
          </p:nvSpPr>
          <p:spPr>
            <a:xfrm>
              <a:off x="1311347" y="2756477"/>
              <a:ext cx="956930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-Due to console limitations, media playback is handled through external applications to ensure a smooth user experience</a:t>
              </a:r>
            </a:p>
            <a:p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</a:t>
              </a:r>
              <a:r>
                <a:rPr lang="en-US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The interface uses ANSI escape codes and cursor control to render a dynamic, colored terminal UI from a single managed screen state</a:t>
              </a:r>
              <a:endParaRPr lang="fr-FR" sz="28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2B272043-366F-74F0-C22E-82FF48CD8E6A}"/>
              </a:ext>
            </a:extLst>
          </p:cNvPr>
          <p:cNvGrpSpPr/>
          <p:nvPr/>
        </p:nvGrpSpPr>
        <p:grpSpPr>
          <a:xfrm>
            <a:off x="2556956" y="8315834"/>
            <a:ext cx="7271656" cy="4329824"/>
            <a:chOff x="2460172" y="764660"/>
            <a:chExt cx="7271656" cy="4329824"/>
          </a:xfrm>
        </p:grpSpPr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B5BB99C1-24D9-D891-5D5C-EE177D809053}"/>
                </a:ext>
              </a:extLst>
            </p:cNvPr>
            <p:cNvSpPr txBox="1"/>
            <p:nvPr/>
          </p:nvSpPr>
          <p:spPr>
            <a:xfrm>
              <a:off x="2460172" y="764660"/>
              <a:ext cx="727165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Analysis</a:t>
              </a:r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4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Requirements</a:t>
              </a:r>
              <a:endParaRPr lang="fr-FR" sz="4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EEE348D7-9504-C46B-82C4-F27060EC4CFE}"/>
                </a:ext>
              </a:extLst>
            </p:cNvPr>
            <p:cNvSpPr txBox="1"/>
            <p:nvPr/>
          </p:nvSpPr>
          <p:spPr>
            <a:xfrm>
              <a:off x="4339765" y="3093936"/>
              <a:ext cx="3512469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-Content management</a:t>
              </a:r>
            </a:p>
            <a:p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-The user </a:t>
              </a:r>
              <a:r>
                <a:rPr lang="fr-FR" sz="32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experience</a:t>
              </a:r>
              <a:endParaRPr lang="fr-FR" sz="32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  <a:p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-The  </a:t>
              </a:r>
              <a:r>
                <a:rPr lang="fr-FR" sz="32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transactional</a:t>
              </a:r>
              <a:r>
                <a:rPr lang="fr-FR" sz="3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3200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logic</a:t>
              </a:r>
              <a:endParaRPr lang="fr-FR" sz="32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  <a:p>
              <a:endParaRPr lang="fr-FR" sz="28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B98F1FCC-1CF7-590B-B7DE-39D7689169A1}"/>
              </a:ext>
            </a:extLst>
          </p:cNvPr>
          <p:cNvSpPr txBox="1"/>
          <p:nvPr/>
        </p:nvSpPr>
        <p:spPr>
          <a:xfrm>
            <a:off x="11204310" y="6027002"/>
            <a:ext cx="949622" cy="707886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5213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rgbClr val="4E95D9"/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439F4-E465-4B1F-0E0F-0453E901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648D3213-5F6B-8387-FFEF-796631CFD21C}"/>
              </a:ext>
            </a:extLst>
          </p:cNvPr>
          <p:cNvGrpSpPr/>
          <p:nvPr/>
        </p:nvGrpSpPr>
        <p:grpSpPr>
          <a:xfrm>
            <a:off x="-2135047" y="-2246447"/>
            <a:ext cx="4093029" cy="4122058"/>
            <a:chOff x="-2177143" y="-2235202"/>
            <a:chExt cx="4093029" cy="4122058"/>
          </a:xfrm>
          <a:effectLst/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320C0538-8B7A-C1CE-CC89-ADF9D1DE763C}"/>
                </a:ext>
              </a:extLst>
            </p:cNvPr>
            <p:cNvGrpSpPr/>
            <p:nvPr/>
          </p:nvGrpSpPr>
          <p:grpSpPr>
            <a:xfrm rot="5400000">
              <a:off x="-2191657" y="-2220688"/>
              <a:ext cx="4122058" cy="4093029"/>
              <a:chOff x="-2191657" y="-2220688"/>
              <a:chExt cx="4122058" cy="4093029"/>
            </a:xfrm>
          </p:grpSpPr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A1BCD6C1-29CE-8FE9-5E17-F39BF6139581}"/>
                  </a:ext>
                </a:extLst>
              </p:cNvPr>
              <p:cNvGrpSpPr/>
              <p:nvPr/>
            </p:nvGrpSpPr>
            <p:grpSpPr>
              <a:xfrm rot="5400000">
                <a:off x="-2177143" y="-2235202"/>
                <a:ext cx="4093029" cy="4122058"/>
                <a:chOff x="-2177143" y="-2235202"/>
                <a:chExt cx="4093029" cy="4122058"/>
              </a:xfrm>
            </p:grpSpPr>
            <p:grpSp>
              <p:nvGrpSpPr>
                <p:cNvPr id="8" name="Groupe 7">
                  <a:extLst>
                    <a:ext uri="{FF2B5EF4-FFF2-40B4-BE49-F238E27FC236}">
                      <a16:creationId xmlns:a16="http://schemas.microsoft.com/office/drawing/2014/main" id="{78117A7C-7A73-C1D1-EF45-372FF0D8429E}"/>
                    </a:ext>
                  </a:extLst>
                </p:cNvPr>
                <p:cNvGrpSpPr/>
                <p:nvPr/>
              </p:nvGrpSpPr>
              <p:grpSpPr>
                <a:xfrm rot="5400000">
                  <a:off x="-2191657" y="-2220688"/>
                  <a:ext cx="4122058" cy="4093029"/>
                  <a:chOff x="-2191657" y="-2220688"/>
                  <a:chExt cx="4122058" cy="4093029"/>
                </a:xfrm>
              </p:grpSpPr>
              <p:sp useBgFill="1">
                <p:nvSpPr>
                  <p:cNvPr id="6" name="Organigramme : Jonction de sommaire 5">
                    <a:extLst>
                      <a:ext uri="{FF2B5EF4-FFF2-40B4-BE49-F238E27FC236}">
                        <a16:creationId xmlns:a16="http://schemas.microsoft.com/office/drawing/2014/main" id="{CF06064C-D504-768C-02B2-492867A28B90}"/>
                      </a:ext>
                    </a:extLst>
                  </p:cNvPr>
                  <p:cNvSpPr/>
                  <p:nvPr/>
                </p:nvSpPr>
                <p:spPr>
                  <a:xfrm rot="2714901">
                    <a:off x="-2177143" y="-2235202"/>
                    <a:ext cx="4093029" cy="4122058"/>
                  </a:xfrm>
                  <a:prstGeom prst="flowChartSummingJunction">
                    <a:avLst/>
                  </a:prstGeom>
                  <a:ln w="12700">
                    <a:solidFill>
                      <a:schemeClr val="bg1"/>
                    </a:solidFill>
                  </a:ln>
                  <a:effectLst>
                    <a:outerShdw blurRad="50800" dist="38100" dir="2700000" sx="101000" sy="101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  <p:sp>
                <p:nvSpPr>
                  <p:cNvPr id="7" name="ZoneTexte 6">
                    <a:extLst>
                      <a:ext uri="{FF2B5EF4-FFF2-40B4-BE49-F238E27FC236}">
                        <a16:creationId xmlns:a16="http://schemas.microsoft.com/office/drawing/2014/main" id="{BAB9EA4D-552D-8AFD-3081-BF923CBD7D86}"/>
                      </a:ext>
                    </a:extLst>
                  </p:cNvPr>
                  <p:cNvSpPr txBox="1"/>
                  <p:nvPr/>
                </p:nvSpPr>
                <p:spPr>
                  <a:xfrm>
                    <a:off x="377372" y="116113"/>
                    <a:ext cx="127725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7200" dirty="0">
                        <a:solidFill>
                          <a:schemeClr val="bg1"/>
                        </a:solidFill>
                        <a:latin typeface="Bahnschrift Condensed" panose="020B0502040204020203" pitchFamily="34" charset="0"/>
                      </a:rPr>
                      <a:t>01</a:t>
                    </a:r>
                  </a:p>
                </p:txBody>
              </p:sp>
            </p:grpSp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83093393-4143-8F0A-1D76-11021CC3E817}"/>
                    </a:ext>
                  </a:extLst>
                </p:cNvPr>
                <p:cNvSpPr txBox="1"/>
                <p:nvPr/>
              </p:nvSpPr>
              <p:spPr>
                <a:xfrm>
                  <a:off x="354242" y="140060"/>
                  <a:ext cx="127725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200" dirty="0">
                      <a:solidFill>
                        <a:schemeClr val="bg1"/>
                      </a:solidFill>
                      <a:latin typeface="Bahnschrift Condensed" panose="020B0502040204020203" pitchFamily="34" charset="0"/>
                    </a:rPr>
                    <a:t>02</a:t>
                  </a:r>
                </a:p>
              </p:txBody>
            </p:sp>
          </p:grp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3F0A6CF8-724A-CF30-84E5-09D1727CE641}"/>
                  </a:ext>
                </a:extLst>
              </p:cNvPr>
              <p:cNvSpPr txBox="1"/>
              <p:nvPr/>
            </p:nvSpPr>
            <p:spPr>
              <a:xfrm>
                <a:off x="306436" y="-5083"/>
                <a:ext cx="12772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4834E6F9-6EC9-2646-DCF2-B17421E91407}"/>
                </a:ext>
              </a:extLst>
            </p:cNvPr>
            <p:cNvSpPr txBox="1"/>
            <p:nvPr/>
          </p:nvSpPr>
          <p:spPr>
            <a:xfrm>
              <a:off x="364404" y="0"/>
              <a:ext cx="12772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85C15A1B-5FB8-0BDC-8B1D-03C853F0FD45}"/>
              </a:ext>
            </a:extLst>
          </p:cNvPr>
          <p:cNvSpPr txBox="1"/>
          <p:nvPr/>
        </p:nvSpPr>
        <p:spPr>
          <a:xfrm>
            <a:off x="2460171" y="901519"/>
            <a:ext cx="73987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Technical</a:t>
            </a:r>
            <a:r>
              <a:rPr lang="fr-FR" sz="4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 Solution and Architecture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27BFB576-580C-FCB7-40B3-658119B73093}"/>
              </a:ext>
            </a:extLst>
          </p:cNvPr>
          <p:cNvGrpSpPr/>
          <p:nvPr/>
        </p:nvGrpSpPr>
        <p:grpSpPr>
          <a:xfrm>
            <a:off x="-2135048" y="-2246447"/>
            <a:ext cx="4093029" cy="4122058"/>
            <a:chOff x="-2177143" y="-2235202"/>
            <a:chExt cx="4093029" cy="4122058"/>
          </a:xfrm>
          <a:effectLst/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50E4E489-FC5F-9A00-8217-46025CC09281}"/>
                </a:ext>
              </a:extLst>
            </p:cNvPr>
            <p:cNvGrpSpPr/>
            <p:nvPr/>
          </p:nvGrpSpPr>
          <p:grpSpPr>
            <a:xfrm rot="5400000">
              <a:off x="-2191657" y="-2220688"/>
              <a:ext cx="4122058" cy="4093029"/>
              <a:chOff x="-2191657" y="-2220688"/>
              <a:chExt cx="4122058" cy="4093029"/>
            </a:xfrm>
          </p:grpSpPr>
          <p:grpSp>
            <p:nvGrpSpPr>
              <p:cNvPr id="11" name="Groupe 10">
                <a:extLst>
                  <a:ext uri="{FF2B5EF4-FFF2-40B4-BE49-F238E27FC236}">
                    <a16:creationId xmlns:a16="http://schemas.microsoft.com/office/drawing/2014/main" id="{963A54A4-F8FE-F7DF-C472-02E272206A95}"/>
                  </a:ext>
                </a:extLst>
              </p:cNvPr>
              <p:cNvGrpSpPr/>
              <p:nvPr/>
            </p:nvGrpSpPr>
            <p:grpSpPr>
              <a:xfrm rot="5400000">
                <a:off x="-2177143" y="-2235202"/>
                <a:ext cx="4093029" cy="4122058"/>
                <a:chOff x="-2177143" y="-2235202"/>
                <a:chExt cx="4093029" cy="4122058"/>
              </a:xfrm>
            </p:grpSpPr>
            <p:grpSp>
              <p:nvGrpSpPr>
                <p:cNvPr id="13" name="Groupe 12">
                  <a:extLst>
                    <a:ext uri="{FF2B5EF4-FFF2-40B4-BE49-F238E27FC236}">
                      <a16:creationId xmlns:a16="http://schemas.microsoft.com/office/drawing/2014/main" id="{5AF6DEF3-E6FA-2081-DCCC-60EB8091F6BC}"/>
                    </a:ext>
                  </a:extLst>
                </p:cNvPr>
                <p:cNvGrpSpPr/>
                <p:nvPr/>
              </p:nvGrpSpPr>
              <p:grpSpPr>
                <a:xfrm rot="5400000">
                  <a:off x="-2191657" y="-2220688"/>
                  <a:ext cx="4122058" cy="4093029"/>
                  <a:chOff x="-2191657" y="-2220688"/>
                  <a:chExt cx="4122058" cy="4093029"/>
                </a:xfrm>
              </p:grpSpPr>
              <p:sp useBgFill="1">
                <p:nvSpPr>
                  <p:cNvPr id="21" name="Organigramme : Jonction de sommaire 20">
                    <a:extLst>
                      <a:ext uri="{FF2B5EF4-FFF2-40B4-BE49-F238E27FC236}">
                        <a16:creationId xmlns:a16="http://schemas.microsoft.com/office/drawing/2014/main" id="{2333DDA2-C09A-29C5-E411-30F318FFAF97}"/>
                      </a:ext>
                    </a:extLst>
                  </p:cNvPr>
                  <p:cNvSpPr/>
                  <p:nvPr/>
                </p:nvSpPr>
                <p:spPr>
                  <a:xfrm rot="2714901">
                    <a:off x="-2177143" y="-2235202"/>
                    <a:ext cx="4093029" cy="4122058"/>
                  </a:xfrm>
                  <a:prstGeom prst="flowChartSummingJunction">
                    <a:avLst/>
                  </a:prstGeom>
                  <a:ln w="12700">
                    <a:solidFill>
                      <a:schemeClr val="bg1"/>
                    </a:solidFill>
                  </a:ln>
                  <a:effectLst>
                    <a:outerShdw blurRad="50800" dist="38100" dir="2700000" sx="101000" sy="101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2" name="ZoneTexte 21">
                    <a:extLst>
                      <a:ext uri="{FF2B5EF4-FFF2-40B4-BE49-F238E27FC236}">
                        <a16:creationId xmlns:a16="http://schemas.microsoft.com/office/drawing/2014/main" id="{B044832F-ADF8-0C89-7015-2F84EE23F1C2}"/>
                      </a:ext>
                    </a:extLst>
                  </p:cNvPr>
                  <p:cNvSpPr txBox="1"/>
                  <p:nvPr/>
                </p:nvSpPr>
                <p:spPr>
                  <a:xfrm>
                    <a:off x="377372" y="116113"/>
                    <a:ext cx="127725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7200" dirty="0">
                        <a:solidFill>
                          <a:schemeClr val="bg1"/>
                        </a:solidFill>
                        <a:latin typeface="Bahnschrift Condensed" panose="020B0502040204020203" pitchFamily="34" charset="0"/>
                      </a:rPr>
                      <a:t>05</a:t>
                    </a:r>
                  </a:p>
                </p:txBody>
              </p:sp>
            </p:grpSp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B5B29EAA-F641-DD31-F132-7D7024E373E7}"/>
                    </a:ext>
                  </a:extLst>
                </p:cNvPr>
                <p:cNvSpPr txBox="1"/>
                <p:nvPr/>
              </p:nvSpPr>
              <p:spPr>
                <a:xfrm>
                  <a:off x="354242" y="140060"/>
                  <a:ext cx="127725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200" dirty="0">
                      <a:solidFill>
                        <a:schemeClr val="bg1"/>
                      </a:solidFill>
                      <a:latin typeface="Bahnschrift Condensed" panose="020B0502040204020203" pitchFamily="34" charset="0"/>
                    </a:rPr>
                    <a:t>06</a:t>
                  </a:r>
                </a:p>
              </p:txBody>
            </p:sp>
          </p:grp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495ABE32-293B-C04F-25F7-1A7BA3D3D9B4}"/>
                  </a:ext>
                </a:extLst>
              </p:cNvPr>
              <p:cNvSpPr txBox="1"/>
              <p:nvPr/>
            </p:nvSpPr>
            <p:spPr>
              <a:xfrm>
                <a:off x="306436" y="-5083"/>
                <a:ext cx="12772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641D87E2-F2D4-51D4-B1B1-24A0C0F9B1CC}"/>
                </a:ext>
              </a:extLst>
            </p:cNvPr>
            <p:cNvSpPr txBox="1"/>
            <p:nvPr/>
          </p:nvSpPr>
          <p:spPr>
            <a:xfrm>
              <a:off x="364404" y="0"/>
              <a:ext cx="12772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pic>
        <p:nvPicPr>
          <p:cNvPr id="24" name="Image 23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5C7445A3-9C87-B458-B627-391D77E1201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50000"/>
                <a:lumOff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905" y="2356738"/>
            <a:ext cx="6168189" cy="336720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37C0187-1CE9-8423-4502-48454B4008FB}"/>
              </a:ext>
            </a:extLst>
          </p:cNvPr>
          <p:cNvSpPr txBox="1"/>
          <p:nvPr/>
        </p:nvSpPr>
        <p:spPr>
          <a:xfrm>
            <a:off x="11204310" y="6027002"/>
            <a:ext cx="949622" cy="707886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06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0FBA7BF-2FFF-7C9F-B59F-F1C6F6D4511B}"/>
              </a:ext>
            </a:extLst>
          </p:cNvPr>
          <p:cNvGrpSpPr/>
          <p:nvPr/>
        </p:nvGrpSpPr>
        <p:grpSpPr>
          <a:xfrm>
            <a:off x="2914215" y="-5991129"/>
            <a:ext cx="6363568" cy="5153117"/>
            <a:chOff x="2914216" y="767120"/>
            <a:chExt cx="6363568" cy="5153117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D36531B6-9F58-D41A-8BAF-BC3C96DBF4FC}"/>
                </a:ext>
              </a:extLst>
            </p:cNvPr>
            <p:cNvGrpSpPr/>
            <p:nvPr/>
          </p:nvGrpSpPr>
          <p:grpSpPr>
            <a:xfrm>
              <a:off x="2914216" y="767120"/>
              <a:ext cx="6363568" cy="1666910"/>
              <a:chOff x="2914216" y="767120"/>
              <a:chExt cx="6363568" cy="1666910"/>
            </a:xfrm>
          </p:grpSpPr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5519FED1-AA5E-2199-8A9A-F45CFB720E30}"/>
                  </a:ext>
                </a:extLst>
              </p:cNvPr>
              <p:cNvSpPr txBox="1"/>
              <p:nvPr/>
            </p:nvSpPr>
            <p:spPr>
              <a:xfrm>
                <a:off x="2914216" y="767120"/>
                <a:ext cx="636356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800" b="1" dirty="0" err="1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Demonstration</a:t>
                </a:r>
                <a:endPara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endParaRPr>
              </a:p>
            </p:txBody>
          </p:sp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3C6C2BA1-C2C7-DC41-30DD-B93D28B81BAA}"/>
                  </a:ext>
                </a:extLst>
              </p:cNvPr>
              <p:cNvSpPr txBox="1"/>
              <p:nvPr/>
            </p:nvSpPr>
            <p:spPr>
              <a:xfrm>
                <a:off x="4812632" y="1787699"/>
                <a:ext cx="338087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8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-</a:t>
                </a:r>
                <a:r>
                  <a:rPr lang="fr-FR" sz="3600" dirty="0" err="1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Testing</a:t>
                </a:r>
                <a:r>
                  <a:rPr lang="fr-FR" sz="36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 phase</a:t>
                </a:r>
              </a:p>
            </p:txBody>
          </p:sp>
        </p:grpSp>
        <p:pic>
          <p:nvPicPr>
            <p:cNvPr id="25" name="Image 24" descr="Une image contenant texte, Appareils électroniques, ordinateur, capture d’écran">
              <a:extLst>
                <a:ext uri="{FF2B5EF4-FFF2-40B4-BE49-F238E27FC236}">
                  <a16:creationId xmlns:a16="http://schemas.microsoft.com/office/drawing/2014/main" id="{777886F9-38BA-61CC-A5A5-BDA2E5E63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1" t="8952" r="4815" b="6346"/>
            <a:stretch>
              <a:fillRect/>
            </a:stretch>
          </p:blipFill>
          <p:spPr>
            <a:xfrm>
              <a:off x="3586595" y="2730228"/>
              <a:ext cx="5018810" cy="3190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752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rgbClr val="78B0E2"/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D30E7-7E27-E3E2-AFC0-5FA7065B1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5E02AA9-359A-1D92-9065-83F533D37B03}"/>
              </a:ext>
            </a:extLst>
          </p:cNvPr>
          <p:cNvSpPr txBox="1"/>
          <p:nvPr/>
        </p:nvSpPr>
        <p:spPr>
          <a:xfrm>
            <a:off x="2460172" y="9073062"/>
            <a:ext cx="72716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Solution proposée et architecture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E41F528-2CC0-7702-80BB-94DEE64F07E6}"/>
              </a:ext>
            </a:extLst>
          </p:cNvPr>
          <p:cNvGrpSpPr/>
          <p:nvPr/>
        </p:nvGrpSpPr>
        <p:grpSpPr>
          <a:xfrm rot="5400000">
            <a:off x="-2177144" y="-2235202"/>
            <a:ext cx="4093029" cy="4122058"/>
            <a:chOff x="-2177143" y="-2235202"/>
            <a:chExt cx="4093029" cy="4122058"/>
          </a:xfrm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5C3D76C8-82E0-EB51-F281-DDFE8E3360DA}"/>
                </a:ext>
              </a:extLst>
            </p:cNvPr>
            <p:cNvGrpSpPr/>
            <p:nvPr/>
          </p:nvGrpSpPr>
          <p:grpSpPr>
            <a:xfrm rot="5400000">
              <a:off x="-2191657" y="-2220688"/>
              <a:ext cx="4122058" cy="4093029"/>
              <a:chOff x="-2191657" y="-2220688"/>
              <a:chExt cx="4122058" cy="4093029"/>
            </a:xfrm>
          </p:grpSpPr>
          <p:grpSp>
            <p:nvGrpSpPr>
              <p:cNvPr id="10" name="Groupe 9">
                <a:extLst>
                  <a:ext uri="{FF2B5EF4-FFF2-40B4-BE49-F238E27FC236}">
                    <a16:creationId xmlns:a16="http://schemas.microsoft.com/office/drawing/2014/main" id="{2CD02999-81F3-9DD8-FF93-AE69505BD573}"/>
                  </a:ext>
                </a:extLst>
              </p:cNvPr>
              <p:cNvGrpSpPr/>
              <p:nvPr/>
            </p:nvGrpSpPr>
            <p:grpSpPr>
              <a:xfrm rot="5400000">
                <a:off x="-2177143" y="-2235202"/>
                <a:ext cx="4093029" cy="4122058"/>
                <a:chOff x="-2177143" y="-2235202"/>
                <a:chExt cx="4093029" cy="4122058"/>
              </a:xfrm>
            </p:grpSpPr>
            <p:grpSp>
              <p:nvGrpSpPr>
                <p:cNvPr id="12" name="Groupe 11">
                  <a:extLst>
                    <a:ext uri="{FF2B5EF4-FFF2-40B4-BE49-F238E27FC236}">
                      <a16:creationId xmlns:a16="http://schemas.microsoft.com/office/drawing/2014/main" id="{96B76857-0B34-22AA-8AAE-68DD58008725}"/>
                    </a:ext>
                  </a:extLst>
                </p:cNvPr>
                <p:cNvGrpSpPr/>
                <p:nvPr/>
              </p:nvGrpSpPr>
              <p:grpSpPr>
                <a:xfrm rot="5400000">
                  <a:off x="-2191657" y="-2220688"/>
                  <a:ext cx="4122058" cy="4093029"/>
                  <a:chOff x="-2191657" y="-2220688"/>
                  <a:chExt cx="4122058" cy="4093029"/>
                </a:xfrm>
              </p:grpSpPr>
              <p:sp useBgFill="1">
                <p:nvSpPr>
                  <p:cNvPr id="20" name="Organigramme : Jonction de sommaire 19">
                    <a:extLst>
                      <a:ext uri="{FF2B5EF4-FFF2-40B4-BE49-F238E27FC236}">
                        <a16:creationId xmlns:a16="http://schemas.microsoft.com/office/drawing/2014/main" id="{DAD6A701-8129-FACE-8D8C-CE34A61B22D6}"/>
                      </a:ext>
                    </a:extLst>
                  </p:cNvPr>
                  <p:cNvSpPr/>
                  <p:nvPr/>
                </p:nvSpPr>
                <p:spPr>
                  <a:xfrm rot="2714901">
                    <a:off x="-2177143" y="-2235202"/>
                    <a:ext cx="4093029" cy="4122058"/>
                  </a:xfrm>
                  <a:prstGeom prst="flowChartSummingJunction">
                    <a:avLst/>
                  </a:prstGeom>
                  <a:ln w="12700">
                    <a:solidFill>
                      <a:schemeClr val="bg1"/>
                    </a:solidFill>
                  </a:ln>
                  <a:effectLst>
                    <a:outerShdw blurRad="50800" dist="38100" dir="2700000" sx="101000" sy="101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1" name="ZoneTexte 20">
                    <a:extLst>
                      <a:ext uri="{FF2B5EF4-FFF2-40B4-BE49-F238E27FC236}">
                        <a16:creationId xmlns:a16="http://schemas.microsoft.com/office/drawing/2014/main" id="{8AD6FFEF-1AC5-504C-855A-98D515737043}"/>
                      </a:ext>
                    </a:extLst>
                  </p:cNvPr>
                  <p:cNvSpPr txBox="1"/>
                  <p:nvPr/>
                </p:nvSpPr>
                <p:spPr>
                  <a:xfrm>
                    <a:off x="377372" y="116113"/>
                    <a:ext cx="127725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7200" dirty="0">
                        <a:solidFill>
                          <a:schemeClr val="bg1"/>
                        </a:solidFill>
                        <a:latin typeface="Bahnschrift Condensed" panose="020B0502040204020203" pitchFamily="34" charset="0"/>
                      </a:rPr>
                      <a:t>05</a:t>
                    </a:r>
                  </a:p>
                </p:txBody>
              </p:sp>
            </p:grpSp>
            <p:sp>
              <p:nvSpPr>
                <p:cNvPr id="13" name="ZoneTexte 12">
                  <a:extLst>
                    <a:ext uri="{FF2B5EF4-FFF2-40B4-BE49-F238E27FC236}">
                      <a16:creationId xmlns:a16="http://schemas.microsoft.com/office/drawing/2014/main" id="{3A5B539C-8ADE-3631-0738-405AFB685C63}"/>
                    </a:ext>
                  </a:extLst>
                </p:cNvPr>
                <p:cNvSpPr txBox="1"/>
                <p:nvPr/>
              </p:nvSpPr>
              <p:spPr>
                <a:xfrm>
                  <a:off x="354242" y="140060"/>
                  <a:ext cx="127725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200" dirty="0">
                      <a:solidFill>
                        <a:schemeClr val="bg1"/>
                      </a:solidFill>
                      <a:latin typeface="Bahnschrift Condensed" panose="020B0502040204020203" pitchFamily="34" charset="0"/>
                    </a:rPr>
                    <a:t>06</a:t>
                  </a:r>
                </a:p>
              </p:txBody>
            </p:sp>
          </p:grpSp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95C2B74F-CFD5-672D-2769-21747A4A0ABE}"/>
                  </a:ext>
                </a:extLst>
              </p:cNvPr>
              <p:cNvSpPr txBox="1"/>
              <p:nvPr/>
            </p:nvSpPr>
            <p:spPr>
              <a:xfrm>
                <a:off x="306436" y="-5083"/>
                <a:ext cx="12772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792411EA-7F34-A8A3-CBF2-1A37A9FF54CD}"/>
                </a:ext>
              </a:extLst>
            </p:cNvPr>
            <p:cNvSpPr txBox="1"/>
            <p:nvPr/>
          </p:nvSpPr>
          <p:spPr>
            <a:xfrm>
              <a:off x="364404" y="0"/>
              <a:ext cx="12772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86C8862D-795F-A19C-A8CD-CDE56253BCE0}"/>
              </a:ext>
            </a:extLst>
          </p:cNvPr>
          <p:cNvGrpSpPr/>
          <p:nvPr/>
        </p:nvGrpSpPr>
        <p:grpSpPr>
          <a:xfrm>
            <a:off x="2460172" y="-6381409"/>
            <a:ext cx="7271656" cy="5633915"/>
            <a:chOff x="2527214" y="324726"/>
            <a:chExt cx="7271656" cy="5633915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AD8BD49-4E35-E29E-4FB2-8FA21FDEB7F9}"/>
                </a:ext>
              </a:extLst>
            </p:cNvPr>
            <p:cNvSpPr txBox="1"/>
            <p:nvPr/>
          </p:nvSpPr>
          <p:spPr>
            <a:xfrm>
              <a:off x="2527214" y="324726"/>
              <a:ext cx="727165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Conclusion and Perspectives</a:t>
              </a:r>
            </a:p>
          </p:txBody>
        </p:sp>
        <p:pic>
          <p:nvPicPr>
            <p:cNvPr id="14" name="Image 13" descr="Une image contenant dessin, dessin humoristique, clipart, graphisme&#10;&#10;Le contenu généré par l’IA peut être incorrect.">
              <a:extLst>
                <a:ext uri="{FF2B5EF4-FFF2-40B4-BE49-F238E27FC236}">
                  <a16:creationId xmlns:a16="http://schemas.microsoft.com/office/drawing/2014/main" id="{E32A2558-F0D8-DFAA-720E-2091DD609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2222" y="1611085"/>
              <a:ext cx="4347556" cy="4347556"/>
            </a:xfrm>
            <a:prstGeom prst="rect">
              <a:avLst/>
            </a:prstGeom>
            <a:noFill/>
            <a:effectLst>
              <a:outerShdw blurRad="50800" dist="38100" sx="105000" sy="105000" algn="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2E72BE14-F6CD-B977-84BA-06DF932BED8C}"/>
              </a:ext>
            </a:extLst>
          </p:cNvPr>
          <p:cNvSpPr txBox="1"/>
          <p:nvPr/>
        </p:nvSpPr>
        <p:spPr>
          <a:xfrm>
            <a:off x="11204310" y="6027002"/>
            <a:ext cx="949622" cy="707886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07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6AEB4E4D-E28D-0E7E-8A71-006B4BF647FF}"/>
              </a:ext>
            </a:extLst>
          </p:cNvPr>
          <p:cNvGrpSpPr/>
          <p:nvPr/>
        </p:nvGrpSpPr>
        <p:grpSpPr>
          <a:xfrm>
            <a:off x="2914216" y="767120"/>
            <a:ext cx="6363568" cy="5153117"/>
            <a:chOff x="2914216" y="767120"/>
            <a:chExt cx="6363568" cy="5153117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672DE50A-BF4B-2098-B333-0F20150CC9FA}"/>
                </a:ext>
              </a:extLst>
            </p:cNvPr>
            <p:cNvGrpSpPr/>
            <p:nvPr/>
          </p:nvGrpSpPr>
          <p:grpSpPr>
            <a:xfrm>
              <a:off x="2914216" y="767120"/>
              <a:ext cx="6363568" cy="1666910"/>
              <a:chOff x="2914216" y="767120"/>
              <a:chExt cx="6363568" cy="1666910"/>
            </a:xfrm>
          </p:grpSpPr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B10823DC-BF2B-6B2F-1E92-2AEC39C82C3A}"/>
                  </a:ext>
                </a:extLst>
              </p:cNvPr>
              <p:cNvSpPr txBox="1"/>
              <p:nvPr/>
            </p:nvSpPr>
            <p:spPr>
              <a:xfrm>
                <a:off x="2914216" y="767120"/>
                <a:ext cx="636356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800" b="1" dirty="0" err="1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Demonstration</a:t>
                </a:r>
                <a:endPara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endParaRPr>
              </a:p>
            </p:txBody>
          </p:sp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4973D1FA-5CC0-AA99-C7CC-EC3E3A735091}"/>
                  </a:ext>
                </a:extLst>
              </p:cNvPr>
              <p:cNvSpPr txBox="1"/>
              <p:nvPr/>
            </p:nvSpPr>
            <p:spPr>
              <a:xfrm>
                <a:off x="4812632" y="1787699"/>
                <a:ext cx="338087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8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-</a:t>
                </a:r>
                <a:r>
                  <a:rPr lang="fr-FR" sz="3600" dirty="0" err="1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Testing</a:t>
                </a:r>
                <a:r>
                  <a:rPr lang="fr-FR" sz="36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 phase</a:t>
                </a:r>
              </a:p>
            </p:txBody>
          </p:sp>
        </p:grpSp>
        <p:pic>
          <p:nvPicPr>
            <p:cNvPr id="17" name="Image 16" descr="Une image contenant texte, Appareils électroniques, ordinateur, capture d’écran">
              <a:extLst>
                <a:ext uri="{FF2B5EF4-FFF2-40B4-BE49-F238E27FC236}">
                  <a16:creationId xmlns:a16="http://schemas.microsoft.com/office/drawing/2014/main" id="{D9C360FB-F502-69D9-AE5E-BD47D5F56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1" t="8952" r="4815" b="6346"/>
            <a:stretch>
              <a:fillRect/>
            </a:stretch>
          </p:blipFill>
          <p:spPr>
            <a:xfrm>
              <a:off x="3586595" y="2730228"/>
              <a:ext cx="5018810" cy="3190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8201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rgbClr val="AECEEC"/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5EE4D-DA05-8F66-2D9E-296B1BC9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FA1B2D21-A1CF-3745-7251-74204ADCB527}"/>
              </a:ext>
            </a:extLst>
          </p:cNvPr>
          <p:cNvGrpSpPr/>
          <p:nvPr/>
        </p:nvGrpSpPr>
        <p:grpSpPr>
          <a:xfrm rot="10800000">
            <a:off x="-2177144" y="-2235202"/>
            <a:ext cx="4093029" cy="4122058"/>
            <a:chOff x="-2177143" y="-2235202"/>
            <a:chExt cx="4093029" cy="4122058"/>
          </a:xfrm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0973F220-D696-750C-7557-8C696F3EFBB6}"/>
                </a:ext>
              </a:extLst>
            </p:cNvPr>
            <p:cNvGrpSpPr/>
            <p:nvPr/>
          </p:nvGrpSpPr>
          <p:grpSpPr>
            <a:xfrm rot="5400000">
              <a:off x="-2191657" y="-2220688"/>
              <a:ext cx="4122058" cy="4093029"/>
              <a:chOff x="-2191657" y="-2220688"/>
              <a:chExt cx="4122058" cy="4093029"/>
            </a:xfrm>
          </p:grpSpPr>
          <p:grpSp>
            <p:nvGrpSpPr>
              <p:cNvPr id="10" name="Groupe 9">
                <a:extLst>
                  <a:ext uri="{FF2B5EF4-FFF2-40B4-BE49-F238E27FC236}">
                    <a16:creationId xmlns:a16="http://schemas.microsoft.com/office/drawing/2014/main" id="{094CA05E-11AD-0CFB-DA3E-8ADAB74A290F}"/>
                  </a:ext>
                </a:extLst>
              </p:cNvPr>
              <p:cNvGrpSpPr/>
              <p:nvPr/>
            </p:nvGrpSpPr>
            <p:grpSpPr>
              <a:xfrm rot="5400000">
                <a:off x="-2177143" y="-2235202"/>
                <a:ext cx="4093029" cy="4122058"/>
                <a:chOff x="-2177143" y="-2235202"/>
                <a:chExt cx="4093029" cy="4122058"/>
              </a:xfrm>
            </p:grpSpPr>
            <p:grpSp>
              <p:nvGrpSpPr>
                <p:cNvPr id="12" name="Groupe 11">
                  <a:extLst>
                    <a:ext uri="{FF2B5EF4-FFF2-40B4-BE49-F238E27FC236}">
                      <a16:creationId xmlns:a16="http://schemas.microsoft.com/office/drawing/2014/main" id="{6C529F03-587B-AEAD-127E-652FE13E3268}"/>
                    </a:ext>
                  </a:extLst>
                </p:cNvPr>
                <p:cNvGrpSpPr/>
                <p:nvPr/>
              </p:nvGrpSpPr>
              <p:grpSpPr>
                <a:xfrm rot="5400000">
                  <a:off x="-2191657" y="-2220688"/>
                  <a:ext cx="4122058" cy="4093029"/>
                  <a:chOff x="-2191657" y="-2220688"/>
                  <a:chExt cx="4122058" cy="4093029"/>
                </a:xfrm>
              </p:grpSpPr>
              <p:sp useBgFill="1">
                <p:nvSpPr>
                  <p:cNvPr id="20" name="Organigramme : Jonction de sommaire 19">
                    <a:extLst>
                      <a:ext uri="{FF2B5EF4-FFF2-40B4-BE49-F238E27FC236}">
                        <a16:creationId xmlns:a16="http://schemas.microsoft.com/office/drawing/2014/main" id="{6066FD07-EECF-1EFE-620C-7D6193BFC6AA}"/>
                      </a:ext>
                    </a:extLst>
                  </p:cNvPr>
                  <p:cNvSpPr/>
                  <p:nvPr/>
                </p:nvSpPr>
                <p:spPr>
                  <a:xfrm rot="2714901">
                    <a:off x="-2177143" y="-2235202"/>
                    <a:ext cx="4093029" cy="4122058"/>
                  </a:xfrm>
                  <a:prstGeom prst="flowChartSummingJunction">
                    <a:avLst/>
                  </a:prstGeom>
                  <a:ln w="12700">
                    <a:solidFill>
                      <a:schemeClr val="bg1"/>
                    </a:solidFill>
                  </a:ln>
                  <a:effectLst>
                    <a:outerShdw blurRad="50800" dist="38100" dir="2700000" sx="101000" sy="101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1" name="ZoneTexte 20">
                    <a:extLst>
                      <a:ext uri="{FF2B5EF4-FFF2-40B4-BE49-F238E27FC236}">
                        <a16:creationId xmlns:a16="http://schemas.microsoft.com/office/drawing/2014/main" id="{B51D0931-4021-78DA-D17E-F756AFCE38C8}"/>
                      </a:ext>
                    </a:extLst>
                  </p:cNvPr>
                  <p:cNvSpPr txBox="1"/>
                  <p:nvPr/>
                </p:nvSpPr>
                <p:spPr>
                  <a:xfrm>
                    <a:off x="377372" y="116113"/>
                    <a:ext cx="127725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7200" dirty="0">
                        <a:solidFill>
                          <a:schemeClr val="bg1"/>
                        </a:solidFill>
                        <a:latin typeface="Bahnschrift Condensed" panose="020B0502040204020203" pitchFamily="34" charset="0"/>
                      </a:rPr>
                      <a:t>05</a:t>
                    </a:r>
                  </a:p>
                </p:txBody>
              </p:sp>
            </p:grpSp>
            <p:sp>
              <p:nvSpPr>
                <p:cNvPr id="13" name="ZoneTexte 12">
                  <a:extLst>
                    <a:ext uri="{FF2B5EF4-FFF2-40B4-BE49-F238E27FC236}">
                      <a16:creationId xmlns:a16="http://schemas.microsoft.com/office/drawing/2014/main" id="{0BC1CF30-1FD8-207A-1C8D-E0CC4DACEF11}"/>
                    </a:ext>
                  </a:extLst>
                </p:cNvPr>
                <p:cNvSpPr txBox="1"/>
                <p:nvPr/>
              </p:nvSpPr>
              <p:spPr>
                <a:xfrm>
                  <a:off x="354242" y="140060"/>
                  <a:ext cx="127725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200" dirty="0">
                      <a:solidFill>
                        <a:schemeClr val="bg1"/>
                      </a:solidFill>
                      <a:latin typeface="Bahnschrift Condensed" panose="020B0502040204020203" pitchFamily="34" charset="0"/>
                    </a:rPr>
                    <a:t>06</a:t>
                  </a:r>
                </a:p>
              </p:txBody>
            </p:sp>
          </p:grpSp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8913BAF-D71A-B0B5-0BA7-4B58B579CE09}"/>
                  </a:ext>
                </a:extLst>
              </p:cNvPr>
              <p:cNvSpPr txBox="1"/>
              <p:nvPr/>
            </p:nvSpPr>
            <p:spPr>
              <a:xfrm>
                <a:off x="306436" y="-5083"/>
                <a:ext cx="12772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77A3A0A1-9F7D-0DA7-BFE5-FAED3F043708}"/>
                </a:ext>
              </a:extLst>
            </p:cNvPr>
            <p:cNvSpPr txBox="1"/>
            <p:nvPr/>
          </p:nvSpPr>
          <p:spPr>
            <a:xfrm>
              <a:off x="364404" y="0"/>
              <a:ext cx="12772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251323DD-7662-1266-6D82-1836AB01F958}"/>
              </a:ext>
            </a:extLst>
          </p:cNvPr>
          <p:cNvGrpSpPr/>
          <p:nvPr/>
        </p:nvGrpSpPr>
        <p:grpSpPr>
          <a:xfrm>
            <a:off x="2527214" y="324726"/>
            <a:ext cx="7271656" cy="5633915"/>
            <a:chOff x="2527214" y="324726"/>
            <a:chExt cx="7271656" cy="5633915"/>
          </a:xfrm>
        </p:grpSpPr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7050A033-40A5-83B2-F6FB-21BA3F3A46C9}"/>
                </a:ext>
              </a:extLst>
            </p:cNvPr>
            <p:cNvSpPr txBox="1"/>
            <p:nvPr/>
          </p:nvSpPr>
          <p:spPr>
            <a:xfrm>
              <a:off x="2527214" y="324726"/>
              <a:ext cx="727165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Conclusion and Perspectives</a:t>
              </a:r>
            </a:p>
          </p:txBody>
        </p:sp>
        <p:pic>
          <p:nvPicPr>
            <p:cNvPr id="4" name="Image 3" descr="Une image contenant dessin, dessin humoristique, clipart, graphisme&#10;&#10;Le contenu généré par l’IA peut être incorrect.">
              <a:extLst>
                <a:ext uri="{FF2B5EF4-FFF2-40B4-BE49-F238E27FC236}">
                  <a16:creationId xmlns:a16="http://schemas.microsoft.com/office/drawing/2014/main" id="{A537FA08-43A5-CBC4-9483-D440E44C4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2222" y="1611085"/>
              <a:ext cx="4347556" cy="4347556"/>
            </a:xfrm>
            <a:prstGeom prst="rect">
              <a:avLst/>
            </a:prstGeom>
            <a:noFill/>
            <a:effectLst>
              <a:outerShdw blurRad="50800" dist="38100" sx="105000" sy="105000" algn="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0BDD69D8-E37E-080E-FBE2-9CE7B6A29DEA}"/>
              </a:ext>
            </a:extLst>
          </p:cNvPr>
          <p:cNvSpPr txBox="1"/>
          <p:nvPr/>
        </p:nvSpPr>
        <p:spPr>
          <a:xfrm>
            <a:off x="11204310" y="6027002"/>
            <a:ext cx="949622" cy="707886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08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693D1F8-E5A8-3161-0A11-C2BCC23491CC}"/>
              </a:ext>
            </a:extLst>
          </p:cNvPr>
          <p:cNvGrpSpPr/>
          <p:nvPr/>
        </p:nvGrpSpPr>
        <p:grpSpPr>
          <a:xfrm>
            <a:off x="2981258" y="7686080"/>
            <a:ext cx="6363568" cy="5153117"/>
            <a:chOff x="2914216" y="767120"/>
            <a:chExt cx="6363568" cy="5153117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4D791D4E-84C7-3553-E2EA-9242C813A590}"/>
                </a:ext>
              </a:extLst>
            </p:cNvPr>
            <p:cNvGrpSpPr/>
            <p:nvPr/>
          </p:nvGrpSpPr>
          <p:grpSpPr>
            <a:xfrm>
              <a:off x="2914216" y="767120"/>
              <a:ext cx="6363568" cy="1666910"/>
              <a:chOff x="2914216" y="767120"/>
              <a:chExt cx="6363568" cy="1666910"/>
            </a:xfrm>
          </p:grpSpPr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47CCAD13-E822-B92D-ED4E-C490985D0CD0}"/>
                  </a:ext>
                </a:extLst>
              </p:cNvPr>
              <p:cNvSpPr txBox="1"/>
              <p:nvPr/>
            </p:nvSpPr>
            <p:spPr>
              <a:xfrm>
                <a:off x="2914216" y="767120"/>
                <a:ext cx="636356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4800" b="1" dirty="0" err="1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Demonstration</a:t>
                </a:r>
                <a:endPara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endParaRPr>
              </a:p>
            </p:txBody>
          </p:sp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C415EFFA-5272-03ED-E582-4EED19C6F99A}"/>
                  </a:ext>
                </a:extLst>
              </p:cNvPr>
              <p:cNvSpPr txBox="1"/>
              <p:nvPr/>
            </p:nvSpPr>
            <p:spPr>
              <a:xfrm>
                <a:off x="4812632" y="1787699"/>
                <a:ext cx="338087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8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-</a:t>
                </a:r>
                <a:r>
                  <a:rPr lang="fr-FR" sz="3600" dirty="0" err="1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Testing</a:t>
                </a:r>
                <a:r>
                  <a:rPr lang="fr-FR" sz="36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 phase</a:t>
                </a:r>
              </a:p>
            </p:txBody>
          </p:sp>
        </p:grpSp>
        <p:pic>
          <p:nvPicPr>
            <p:cNvPr id="17" name="Image 16" descr="Une image contenant texte, Appareils électroniques, ordinateur, capture d’écran">
              <a:extLst>
                <a:ext uri="{FF2B5EF4-FFF2-40B4-BE49-F238E27FC236}">
                  <a16:creationId xmlns:a16="http://schemas.microsoft.com/office/drawing/2014/main" id="{44676FD3-A69E-8F39-F83C-2804D4DBD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1" t="8952" r="4815" b="6346"/>
            <a:stretch>
              <a:fillRect/>
            </a:stretch>
          </p:blipFill>
          <p:spPr>
            <a:xfrm>
              <a:off x="3586595" y="2730228"/>
              <a:ext cx="5018810" cy="3190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9392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rgbClr val="78B0E2"/>
            </a:gs>
          </a:gsLst>
          <a:lin ang="108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DB095-4760-16D5-6211-C0E0364A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0247F6E-64F9-00AA-3277-154A77418E3C}"/>
              </a:ext>
            </a:extLst>
          </p:cNvPr>
          <p:cNvSpPr txBox="1"/>
          <p:nvPr/>
        </p:nvSpPr>
        <p:spPr>
          <a:xfrm>
            <a:off x="2460172" y="10881080"/>
            <a:ext cx="72716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Solution proposée et architecture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2A64EA99-F7EC-E248-A9A9-B786C2448125}"/>
              </a:ext>
            </a:extLst>
          </p:cNvPr>
          <p:cNvGrpSpPr/>
          <p:nvPr/>
        </p:nvGrpSpPr>
        <p:grpSpPr>
          <a:xfrm rot="5400000">
            <a:off x="-3704608" y="-3773059"/>
            <a:ext cx="4093029" cy="4122058"/>
            <a:chOff x="-2177143" y="-2235202"/>
            <a:chExt cx="4093029" cy="4122058"/>
          </a:xfrm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9EBACF60-0D56-D15E-0ECE-664CC6B66E23}"/>
                </a:ext>
              </a:extLst>
            </p:cNvPr>
            <p:cNvGrpSpPr/>
            <p:nvPr/>
          </p:nvGrpSpPr>
          <p:grpSpPr>
            <a:xfrm rot="5400000">
              <a:off x="-2191657" y="-2220688"/>
              <a:ext cx="4122058" cy="4093029"/>
              <a:chOff x="-2191657" y="-2220688"/>
              <a:chExt cx="4122058" cy="4093029"/>
            </a:xfrm>
          </p:grpSpPr>
          <p:grpSp>
            <p:nvGrpSpPr>
              <p:cNvPr id="10" name="Groupe 9">
                <a:extLst>
                  <a:ext uri="{FF2B5EF4-FFF2-40B4-BE49-F238E27FC236}">
                    <a16:creationId xmlns:a16="http://schemas.microsoft.com/office/drawing/2014/main" id="{003B792E-7297-A129-BDA5-D5C9CBF7C5A5}"/>
                  </a:ext>
                </a:extLst>
              </p:cNvPr>
              <p:cNvGrpSpPr/>
              <p:nvPr/>
            </p:nvGrpSpPr>
            <p:grpSpPr>
              <a:xfrm rot="5400000">
                <a:off x="-2177143" y="-2235202"/>
                <a:ext cx="4093029" cy="4122058"/>
                <a:chOff x="-2177143" y="-2235202"/>
                <a:chExt cx="4093029" cy="4122058"/>
              </a:xfrm>
            </p:grpSpPr>
            <p:grpSp>
              <p:nvGrpSpPr>
                <p:cNvPr id="12" name="Groupe 11">
                  <a:extLst>
                    <a:ext uri="{FF2B5EF4-FFF2-40B4-BE49-F238E27FC236}">
                      <a16:creationId xmlns:a16="http://schemas.microsoft.com/office/drawing/2014/main" id="{28F04EDD-7275-DBAA-E234-C6D8892016AF}"/>
                    </a:ext>
                  </a:extLst>
                </p:cNvPr>
                <p:cNvGrpSpPr/>
                <p:nvPr/>
              </p:nvGrpSpPr>
              <p:grpSpPr>
                <a:xfrm rot="5400000">
                  <a:off x="-2191657" y="-2220688"/>
                  <a:ext cx="4122058" cy="4093029"/>
                  <a:chOff x="-2191657" y="-2220688"/>
                  <a:chExt cx="4122058" cy="4093029"/>
                </a:xfrm>
              </p:grpSpPr>
              <p:sp useBgFill="1">
                <p:nvSpPr>
                  <p:cNvPr id="20" name="Organigramme : Jonction de sommaire 19">
                    <a:extLst>
                      <a:ext uri="{FF2B5EF4-FFF2-40B4-BE49-F238E27FC236}">
                        <a16:creationId xmlns:a16="http://schemas.microsoft.com/office/drawing/2014/main" id="{BEEECD2E-9A2E-20D1-EE21-BE18682D24DC}"/>
                      </a:ext>
                    </a:extLst>
                  </p:cNvPr>
                  <p:cNvSpPr/>
                  <p:nvPr/>
                </p:nvSpPr>
                <p:spPr>
                  <a:xfrm rot="2714901">
                    <a:off x="-2177143" y="-2235202"/>
                    <a:ext cx="4093029" cy="4122058"/>
                  </a:xfrm>
                  <a:prstGeom prst="flowChartSummingJunction">
                    <a:avLst/>
                  </a:prstGeom>
                  <a:ln w="12700">
                    <a:solidFill>
                      <a:schemeClr val="bg1"/>
                    </a:solidFill>
                  </a:ln>
                  <a:effectLst>
                    <a:outerShdw blurRad="50800" dist="38100" dir="2700000" sx="101000" sy="101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1" name="ZoneTexte 20">
                    <a:extLst>
                      <a:ext uri="{FF2B5EF4-FFF2-40B4-BE49-F238E27FC236}">
                        <a16:creationId xmlns:a16="http://schemas.microsoft.com/office/drawing/2014/main" id="{AAA4A12E-47DE-3AC2-2F69-DCDD1FF2A54B}"/>
                      </a:ext>
                    </a:extLst>
                  </p:cNvPr>
                  <p:cNvSpPr txBox="1"/>
                  <p:nvPr/>
                </p:nvSpPr>
                <p:spPr>
                  <a:xfrm>
                    <a:off x="377372" y="116113"/>
                    <a:ext cx="1277257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7200" dirty="0">
                        <a:solidFill>
                          <a:schemeClr val="bg1"/>
                        </a:solidFill>
                        <a:latin typeface="Bahnschrift Condensed" panose="020B0502040204020203" pitchFamily="34" charset="0"/>
                      </a:rPr>
                      <a:t>05</a:t>
                    </a:r>
                  </a:p>
                </p:txBody>
              </p:sp>
            </p:grpSp>
            <p:sp>
              <p:nvSpPr>
                <p:cNvPr id="13" name="ZoneTexte 12">
                  <a:extLst>
                    <a:ext uri="{FF2B5EF4-FFF2-40B4-BE49-F238E27FC236}">
                      <a16:creationId xmlns:a16="http://schemas.microsoft.com/office/drawing/2014/main" id="{1A15F83A-92DC-955D-B128-22EAC1521A85}"/>
                    </a:ext>
                  </a:extLst>
                </p:cNvPr>
                <p:cNvSpPr txBox="1"/>
                <p:nvPr/>
              </p:nvSpPr>
              <p:spPr>
                <a:xfrm>
                  <a:off x="354242" y="140060"/>
                  <a:ext cx="127725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200" dirty="0">
                      <a:solidFill>
                        <a:schemeClr val="bg1"/>
                      </a:solidFill>
                      <a:latin typeface="Bahnschrift Condensed" panose="020B0502040204020203" pitchFamily="34" charset="0"/>
                    </a:rPr>
                    <a:t>06</a:t>
                  </a:r>
                </a:p>
              </p:txBody>
            </p:sp>
          </p:grpSp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A9A69956-0917-FFDE-73CB-E8AFF4DA3D09}"/>
                  </a:ext>
                </a:extLst>
              </p:cNvPr>
              <p:cNvSpPr txBox="1"/>
              <p:nvPr/>
            </p:nvSpPr>
            <p:spPr>
              <a:xfrm>
                <a:off x="306436" y="-5083"/>
                <a:ext cx="12772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200" dirty="0">
                    <a:solidFill>
                      <a:schemeClr val="bg1"/>
                    </a:solidFill>
                    <a:latin typeface="Bahnschrift Condensed" panose="020B0502040204020203" pitchFamily="34" charset="0"/>
                  </a:rPr>
                  <a:t>03</a:t>
                </a:r>
              </a:p>
            </p:txBody>
          </p:sp>
        </p:grp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2F5BAF16-8644-72D1-F22E-601C8E28C417}"/>
                </a:ext>
              </a:extLst>
            </p:cNvPr>
            <p:cNvSpPr txBox="1"/>
            <p:nvPr/>
          </p:nvSpPr>
          <p:spPr>
            <a:xfrm>
              <a:off x="364404" y="0"/>
              <a:ext cx="12772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2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A2669C42-4EB6-1804-12AC-DD1A1D1FA398}"/>
              </a:ext>
            </a:extLst>
          </p:cNvPr>
          <p:cNvGrpSpPr/>
          <p:nvPr/>
        </p:nvGrpSpPr>
        <p:grpSpPr>
          <a:xfrm>
            <a:off x="1959849" y="2093352"/>
            <a:ext cx="7317935" cy="2887358"/>
            <a:chOff x="1959849" y="285334"/>
            <a:chExt cx="7317935" cy="2887358"/>
          </a:xfrm>
        </p:grpSpPr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97A6B4BE-FFF3-B292-C9FB-6EAD2B347EE8}"/>
                </a:ext>
              </a:extLst>
            </p:cNvPr>
            <p:cNvSpPr txBox="1"/>
            <p:nvPr/>
          </p:nvSpPr>
          <p:spPr>
            <a:xfrm>
              <a:off x="2914216" y="285334"/>
              <a:ext cx="636356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Thank</a:t>
              </a:r>
              <a:r>
                <a:rPr lang="fr-FR" sz="66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You</a:t>
              </a:r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DFD37538-9959-C21B-B998-F1AC3AF0826D}"/>
                </a:ext>
              </a:extLst>
            </p:cNvPr>
            <p:cNvSpPr txBox="1"/>
            <p:nvPr/>
          </p:nvSpPr>
          <p:spPr>
            <a:xfrm>
              <a:off x="1959849" y="1787697"/>
              <a:ext cx="3380874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Nizar BTIRA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Nizar EL IDRYSY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fr-FR" sz="28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Hajar CHABLI</a:t>
              </a:r>
              <a:endParaRPr lang="fr-FR" sz="3600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8E72C3F8-B9EA-2B59-4BED-D120D6A84844}"/>
              </a:ext>
            </a:extLst>
          </p:cNvPr>
          <p:cNvGrpSpPr/>
          <p:nvPr/>
        </p:nvGrpSpPr>
        <p:grpSpPr>
          <a:xfrm>
            <a:off x="2651031" y="-6417377"/>
            <a:ext cx="7271656" cy="5633915"/>
            <a:chOff x="2527214" y="324726"/>
            <a:chExt cx="7271656" cy="5633915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3D3D89E2-8DC6-C115-B323-AF3BB2EBA340}"/>
                </a:ext>
              </a:extLst>
            </p:cNvPr>
            <p:cNvSpPr txBox="1"/>
            <p:nvPr/>
          </p:nvSpPr>
          <p:spPr>
            <a:xfrm>
              <a:off x="2527214" y="324726"/>
              <a:ext cx="727165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Conclusion and Perspectives</a:t>
              </a:r>
            </a:p>
          </p:txBody>
        </p:sp>
        <p:pic>
          <p:nvPicPr>
            <p:cNvPr id="14" name="Image 13" descr="Une image contenant dessin, dessin humoristique, clipart, graphisme&#10;&#10;Le contenu généré par l’IA peut être incorrect.">
              <a:extLst>
                <a:ext uri="{FF2B5EF4-FFF2-40B4-BE49-F238E27FC236}">
                  <a16:creationId xmlns:a16="http://schemas.microsoft.com/office/drawing/2014/main" id="{E5FF36D4-D510-7889-993C-5948BB659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2222" y="1611085"/>
              <a:ext cx="4347556" cy="4347556"/>
            </a:xfrm>
            <a:prstGeom prst="rect">
              <a:avLst/>
            </a:prstGeom>
            <a:noFill/>
            <a:effectLst>
              <a:outerShdw blurRad="50800" dist="38100" sx="105000" sy="105000" algn="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3E2C0A44-4C8C-3424-D69D-629F78941C91}"/>
              </a:ext>
            </a:extLst>
          </p:cNvPr>
          <p:cNvSpPr txBox="1"/>
          <p:nvPr/>
        </p:nvSpPr>
        <p:spPr>
          <a:xfrm>
            <a:off x="8541715" y="3811160"/>
            <a:ext cx="2380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Supervised</a:t>
            </a:r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by :</a:t>
            </a:r>
          </a:p>
          <a:p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Youssef </a:t>
            </a:r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Jdido</a:t>
            </a:r>
            <a:endParaRPr lang="fr-FR" sz="2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50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chemeClr val="tx2">
                <a:lumMod val="75000"/>
                <a:lumOff val="2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80FB8-4182-7099-8789-8096550F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6F520CF9-8C4E-D6E1-A4EE-1A91D6B85DA2}"/>
              </a:ext>
            </a:extLst>
          </p:cNvPr>
          <p:cNvGrpSpPr/>
          <p:nvPr/>
        </p:nvGrpSpPr>
        <p:grpSpPr>
          <a:xfrm>
            <a:off x="5112243" y="625835"/>
            <a:ext cx="3514247" cy="2192111"/>
            <a:chOff x="4646527" y="-234774"/>
            <a:chExt cx="3514247" cy="2192111"/>
          </a:xfrm>
          <a:effectLst>
            <a:outerShdw blurRad="50800" dist="38100" dir="5400000" sx="105000" sy="105000" algn="t" rotWithShape="0">
              <a:prstClr val="black">
                <a:alpha val="40000"/>
              </a:prstClr>
            </a:outerShdw>
          </a:effectLst>
        </p:grpSpPr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A0ADE773-B0DC-86E1-68AF-D8C12B81B00F}"/>
                </a:ext>
              </a:extLst>
            </p:cNvPr>
            <p:cNvSpPr txBox="1">
              <a:spLocks/>
            </p:cNvSpPr>
            <p:nvPr/>
          </p:nvSpPr>
          <p:spPr>
            <a:xfrm>
              <a:off x="4646527" y="445782"/>
              <a:ext cx="19684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/>
                  </a:solidFill>
                  <a:latin typeface="Akira Expanded" panose="02000800000000000000" pitchFamily="50" charset="0"/>
                </a:rPr>
                <a:t>Media </a:t>
              </a:r>
            </a:p>
            <a:p>
              <a:pPr algn="ctr"/>
              <a:r>
                <a:rPr lang="fr-FR" sz="2400" dirty="0">
                  <a:solidFill>
                    <a:schemeClr val="bg1"/>
                  </a:solidFill>
                  <a:latin typeface="Akira Expanded" panose="02000800000000000000" pitchFamily="50" charset="0"/>
                </a:rPr>
                <a:t>Forge</a:t>
              </a:r>
            </a:p>
          </p:txBody>
        </p:sp>
        <p:pic>
          <p:nvPicPr>
            <p:cNvPr id="3" name="Image 2" descr="Une image contenant capture d’écran, Graphique, logo, texte">
              <a:extLst>
                <a:ext uri="{FF2B5EF4-FFF2-40B4-BE49-F238E27FC236}">
                  <a16:creationId xmlns:a16="http://schemas.microsoft.com/office/drawing/2014/main" id="{269DF769-BFD4-6260-6010-7CCD456F5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72" r="34808" b="37631"/>
            <a:stretch>
              <a:fillRect/>
            </a:stretch>
          </p:blipFill>
          <p:spPr>
            <a:xfrm>
              <a:off x="6096000" y="-234774"/>
              <a:ext cx="2064774" cy="2192111"/>
            </a:xfrm>
            <a:prstGeom prst="rect">
              <a:avLst/>
            </a:prstGeom>
          </p:spPr>
        </p:pic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07014B8C-7408-73EB-5943-ED9D9230905C}"/>
              </a:ext>
            </a:extLst>
          </p:cNvPr>
          <p:cNvSpPr txBox="1"/>
          <p:nvPr/>
        </p:nvSpPr>
        <p:spPr>
          <a:xfrm>
            <a:off x="8626490" y="4651108"/>
            <a:ext cx="2380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Supervised</a:t>
            </a:r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by :</a:t>
            </a:r>
          </a:p>
          <a:p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Youssef </a:t>
            </a:r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Jdidou</a:t>
            </a:r>
            <a:endParaRPr lang="fr-FR" sz="2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F0FAAD2-C10D-A589-85C3-EA0B89ED6ED0}"/>
              </a:ext>
            </a:extLst>
          </p:cNvPr>
          <p:cNvSpPr txBox="1"/>
          <p:nvPr/>
        </p:nvSpPr>
        <p:spPr>
          <a:xfrm>
            <a:off x="1619140" y="4666716"/>
            <a:ext cx="6244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Presented</a:t>
            </a:r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by :</a:t>
            </a:r>
          </a:p>
          <a:p>
            <a:pPr algn="ctr"/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Nizar El </a:t>
            </a:r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Idrysy</a:t>
            </a:r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 -  Nizar </a:t>
            </a:r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Btira</a:t>
            </a:r>
            <a:r>
              <a:rPr lang="fr-FR" sz="2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 -  Hajar </a:t>
            </a:r>
            <a:r>
              <a:rPr lang="fr-FR" sz="2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Chabli</a:t>
            </a:r>
            <a:endParaRPr lang="fr-FR" sz="2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44286D3-AA63-B5BF-F39D-A1464353AD5E}"/>
              </a:ext>
            </a:extLst>
          </p:cNvPr>
          <p:cNvCxnSpPr/>
          <p:nvPr/>
        </p:nvCxnSpPr>
        <p:spPr>
          <a:xfrm>
            <a:off x="4055823" y="3429000"/>
            <a:ext cx="5867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2338DA8C-0796-28D4-CDAB-A5BDD3628DC0}"/>
              </a:ext>
            </a:extLst>
          </p:cNvPr>
          <p:cNvGrpSpPr/>
          <p:nvPr/>
        </p:nvGrpSpPr>
        <p:grpSpPr>
          <a:xfrm>
            <a:off x="-1533476" y="0"/>
            <a:ext cx="2223967" cy="6858000"/>
            <a:chOff x="10223513" y="0"/>
            <a:chExt cx="2223967" cy="6858000"/>
          </a:xfrm>
        </p:grpSpPr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DD2A7518-F37D-A43E-8D09-E2728099F487}"/>
                </a:ext>
              </a:extLst>
            </p:cNvPr>
            <p:cNvGrpSpPr/>
            <p:nvPr/>
          </p:nvGrpSpPr>
          <p:grpSpPr>
            <a:xfrm>
              <a:off x="10223513" y="0"/>
              <a:ext cx="2223967" cy="6858000"/>
              <a:chOff x="10223513" y="0"/>
              <a:chExt cx="2223967" cy="6858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F072A5-570B-1918-7F2B-F0FA3C8B22F0}"/>
                  </a:ext>
                </a:extLst>
              </p:cNvPr>
              <p:cNvSpPr/>
              <p:nvPr/>
            </p:nvSpPr>
            <p:spPr>
              <a:xfrm>
                <a:off x="10223513" y="0"/>
                <a:ext cx="1968487" cy="6858000"/>
              </a:xfrm>
              <a:prstGeom prst="rect">
                <a:avLst/>
              </a:prstGeom>
              <a:solidFill>
                <a:srgbClr val="AECEEC"/>
              </a:solidFill>
              <a:ln>
                <a:solidFill>
                  <a:srgbClr val="AECEE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4" name="Triangle isocèle 43">
                <a:extLst>
                  <a:ext uri="{FF2B5EF4-FFF2-40B4-BE49-F238E27FC236}">
                    <a16:creationId xmlns:a16="http://schemas.microsoft.com/office/drawing/2014/main" id="{FB204BBC-8755-5878-D256-D0B19EFB6F90}"/>
                  </a:ext>
                </a:extLst>
              </p:cNvPr>
              <p:cNvSpPr/>
              <p:nvPr/>
            </p:nvSpPr>
            <p:spPr>
              <a:xfrm rot="5400000">
                <a:off x="11968217" y="800897"/>
                <a:ext cx="713232" cy="245295"/>
              </a:xfrm>
              <a:prstGeom prst="triangle">
                <a:avLst/>
              </a:prstGeom>
              <a:solidFill>
                <a:srgbClr val="AECEEC"/>
              </a:solidFill>
              <a:ln>
                <a:solidFill>
                  <a:srgbClr val="AECEE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461803C7-C371-0C44-5B23-25BAB8CE4ACC}"/>
                </a:ext>
              </a:extLst>
            </p:cNvPr>
            <p:cNvSpPr txBox="1"/>
            <p:nvPr/>
          </p:nvSpPr>
          <p:spPr>
            <a:xfrm>
              <a:off x="10233697" y="566927"/>
              <a:ext cx="195868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06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E9336227-D1CE-C6D7-C723-1AE63B6193C9}"/>
                </a:ext>
              </a:extLst>
            </p:cNvPr>
            <p:cNvSpPr txBox="1"/>
            <p:nvPr/>
          </p:nvSpPr>
          <p:spPr>
            <a:xfrm>
              <a:off x="10238407" y="2961084"/>
              <a:ext cx="195868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Conclusion and Perspectives</a:t>
              </a:r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F91B68EE-363A-8527-8AE6-F8E26084A658}"/>
              </a:ext>
            </a:extLst>
          </p:cNvPr>
          <p:cNvGrpSpPr/>
          <p:nvPr/>
        </p:nvGrpSpPr>
        <p:grpSpPr>
          <a:xfrm>
            <a:off x="-1840436" y="9137"/>
            <a:ext cx="2331721" cy="6858000"/>
            <a:chOff x="8137088" y="0"/>
            <a:chExt cx="2331721" cy="6858000"/>
          </a:xfrm>
        </p:grpSpPr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18119999-B0F4-8AA0-86FE-37804FADDDDE}"/>
                </a:ext>
              </a:extLst>
            </p:cNvPr>
            <p:cNvGrpSpPr/>
            <p:nvPr/>
          </p:nvGrpSpPr>
          <p:grpSpPr>
            <a:xfrm>
              <a:off x="8137088" y="0"/>
              <a:ext cx="2331721" cy="6858000"/>
              <a:chOff x="8137088" y="0"/>
              <a:chExt cx="2331721" cy="68580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586BE12-D9C2-8526-8808-ED732DA0E069}"/>
                  </a:ext>
                </a:extLst>
              </p:cNvPr>
              <p:cNvSpPr/>
              <p:nvPr/>
            </p:nvSpPr>
            <p:spPr>
              <a:xfrm>
                <a:off x="8137088" y="0"/>
                <a:ext cx="2086425" cy="6858000"/>
              </a:xfrm>
              <a:prstGeom prst="rect">
                <a:avLst/>
              </a:prstGeom>
              <a:solidFill>
                <a:srgbClr val="78B0E2"/>
              </a:solidFill>
              <a:ln>
                <a:solidFill>
                  <a:srgbClr val="78B0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7" name="Triangle isocèle 56">
                <a:extLst>
                  <a:ext uri="{FF2B5EF4-FFF2-40B4-BE49-F238E27FC236}">
                    <a16:creationId xmlns:a16="http://schemas.microsoft.com/office/drawing/2014/main" id="{1B983BF5-352D-3DB7-4B5D-150B9936CD5A}"/>
                  </a:ext>
                </a:extLst>
              </p:cNvPr>
              <p:cNvSpPr/>
              <p:nvPr/>
            </p:nvSpPr>
            <p:spPr>
              <a:xfrm rot="5400000">
                <a:off x="9989546" y="800896"/>
                <a:ext cx="713232" cy="245295"/>
              </a:xfrm>
              <a:prstGeom prst="triangle">
                <a:avLst/>
              </a:prstGeom>
              <a:solidFill>
                <a:srgbClr val="78B0E2"/>
              </a:solidFill>
              <a:ln>
                <a:solidFill>
                  <a:srgbClr val="78B0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818109AB-00A0-0B8F-AC9A-0E008414C97C}"/>
                </a:ext>
              </a:extLst>
            </p:cNvPr>
            <p:cNvSpPr txBox="1"/>
            <p:nvPr/>
          </p:nvSpPr>
          <p:spPr>
            <a:xfrm>
              <a:off x="8143980" y="566927"/>
              <a:ext cx="206934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05</a:t>
              </a:r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248F1ED6-37B8-4321-C45A-0BE7E95A5B46}"/>
                </a:ext>
              </a:extLst>
            </p:cNvPr>
            <p:cNvSpPr txBox="1"/>
            <p:nvPr/>
          </p:nvSpPr>
          <p:spPr>
            <a:xfrm>
              <a:off x="8150719" y="2961084"/>
              <a:ext cx="20693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Demonstration</a:t>
              </a:r>
              <a:endParaRPr lang="fr-FR" sz="2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E08E8463-F13C-2BE2-0D29-29AD4A282EBD}"/>
              </a:ext>
            </a:extLst>
          </p:cNvPr>
          <p:cNvGrpSpPr/>
          <p:nvPr/>
        </p:nvGrpSpPr>
        <p:grpSpPr>
          <a:xfrm>
            <a:off x="-1921272" y="0"/>
            <a:ext cx="2223968" cy="6858000"/>
            <a:chOff x="6158415" y="0"/>
            <a:chExt cx="2223968" cy="6858000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4883E13D-AE01-259E-5C6E-B498035CC6B1}"/>
                </a:ext>
              </a:extLst>
            </p:cNvPr>
            <p:cNvGrpSpPr/>
            <p:nvPr/>
          </p:nvGrpSpPr>
          <p:grpSpPr>
            <a:xfrm>
              <a:off x="6158415" y="0"/>
              <a:ext cx="2223968" cy="6858000"/>
              <a:chOff x="6158415" y="0"/>
              <a:chExt cx="2223968" cy="685800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814D0FB-9405-EC58-E2CA-DABACAA6352F}"/>
                  </a:ext>
                </a:extLst>
              </p:cNvPr>
              <p:cNvSpPr/>
              <p:nvPr/>
            </p:nvSpPr>
            <p:spPr>
              <a:xfrm>
                <a:off x="6158415" y="0"/>
                <a:ext cx="1978673" cy="6858000"/>
              </a:xfrm>
              <a:prstGeom prst="rect">
                <a:avLst/>
              </a:prstGeom>
              <a:solidFill>
                <a:srgbClr val="4E95D9"/>
              </a:solidFill>
              <a:ln>
                <a:solidFill>
                  <a:srgbClr val="4E95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4" name="Triangle isocèle 63">
                <a:extLst>
                  <a:ext uri="{FF2B5EF4-FFF2-40B4-BE49-F238E27FC236}">
                    <a16:creationId xmlns:a16="http://schemas.microsoft.com/office/drawing/2014/main" id="{E2D2A572-910F-C553-030E-B7B8A29F4C44}"/>
                  </a:ext>
                </a:extLst>
              </p:cNvPr>
              <p:cNvSpPr/>
              <p:nvPr/>
            </p:nvSpPr>
            <p:spPr>
              <a:xfrm rot="5400000">
                <a:off x="7903120" y="800897"/>
                <a:ext cx="713232" cy="245295"/>
              </a:xfrm>
              <a:prstGeom prst="triangle">
                <a:avLst/>
              </a:prstGeom>
              <a:solidFill>
                <a:srgbClr val="4E95D9"/>
              </a:solidFill>
              <a:ln>
                <a:solidFill>
                  <a:srgbClr val="4E95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D889317F-D47D-EBAF-8DDE-8752903CCBC3}"/>
                </a:ext>
              </a:extLst>
            </p:cNvPr>
            <p:cNvSpPr txBox="1"/>
            <p:nvPr/>
          </p:nvSpPr>
          <p:spPr>
            <a:xfrm>
              <a:off x="6165155" y="2961084"/>
              <a:ext cx="195830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Technical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Solution and Architecture</a:t>
              </a: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77125CC7-4392-3394-2BEB-2617A509FBB2}"/>
                </a:ext>
              </a:extLst>
            </p:cNvPr>
            <p:cNvSpPr txBox="1"/>
            <p:nvPr/>
          </p:nvSpPr>
          <p:spPr>
            <a:xfrm>
              <a:off x="6178404" y="566926"/>
              <a:ext cx="19583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04</a:t>
              </a:r>
            </a:p>
          </p:txBody>
        </p:sp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80BED035-2D15-890A-EB3F-FD59924AAD51}"/>
              </a:ext>
            </a:extLst>
          </p:cNvPr>
          <p:cNvGrpSpPr/>
          <p:nvPr/>
        </p:nvGrpSpPr>
        <p:grpSpPr>
          <a:xfrm>
            <a:off x="-2181119" y="0"/>
            <a:ext cx="2233428" cy="6858000"/>
            <a:chOff x="4172850" y="0"/>
            <a:chExt cx="2233428" cy="6858000"/>
          </a:xfrm>
        </p:grpSpPr>
        <p:grpSp>
          <p:nvGrpSpPr>
            <p:cNvPr id="66" name="Groupe 65">
              <a:extLst>
                <a:ext uri="{FF2B5EF4-FFF2-40B4-BE49-F238E27FC236}">
                  <a16:creationId xmlns:a16="http://schemas.microsoft.com/office/drawing/2014/main" id="{2EC9449C-2718-7C37-5379-C1E4F0AD07A1}"/>
                </a:ext>
              </a:extLst>
            </p:cNvPr>
            <p:cNvGrpSpPr/>
            <p:nvPr/>
          </p:nvGrpSpPr>
          <p:grpSpPr>
            <a:xfrm>
              <a:off x="4172850" y="0"/>
              <a:ext cx="2233428" cy="6858000"/>
              <a:chOff x="4172850" y="0"/>
              <a:chExt cx="2233428" cy="6858000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16927611-F364-407D-87D0-C722CF484556}"/>
                  </a:ext>
                </a:extLst>
              </p:cNvPr>
              <p:cNvSpPr/>
              <p:nvPr/>
            </p:nvSpPr>
            <p:spPr>
              <a:xfrm>
                <a:off x="4172850" y="0"/>
                <a:ext cx="1985565" cy="6858000"/>
              </a:xfrm>
              <a:prstGeom prst="rect">
                <a:avLst/>
              </a:prstGeom>
              <a:solidFill>
                <a:srgbClr val="428CD6"/>
              </a:solidFill>
              <a:ln>
                <a:solidFill>
                  <a:srgbClr val="428CD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0" name="Triangle isocèle 69">
                <a:extLst>
                  <a:ext uri="{FF2B5EF4-FFF2-40B4-BE49-F238E27FC236}">
                    <a16:creationId xmlns:a16="http://schemas.microsoft.com/office/drawing/2014/main" id="{38765D8D-0961-1D7C-8FA2-726915C7F3E2}"/>
                  </a:ext>
                </a:extLst>
              </p:cNvPr>
              <p:cNvSpPr/>
              <p:nvPr/>
            </p:nvSpPr>
            <p:spPr>
              <a:xfrm rot="5400000">
                <a:off x="5927015" y="800897"/>
                <a:ext cx="713232" cy="245295"/>
              </a:xfrm>
              <a:prstGeom prst="triangle">
                <a:avLst/>
              </a:prstGeom>
              <a:solidFill>
                <a:srgbClr val="428CD6"/>
              </a:solidFill>
              <a:ln>
                <a:solidFill>
                  <a:srgbClr val="428CD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F84EA41A-47FF-7114-A8DE-E8EF510EF3EC}"/>
                </a:ext>
              </a:extLst>
            </p:cNvPr>
            <p:cNvSpPr txBox="1"/>
            <p:nvPr/>
          </p:nvSpPr>
          <p:spPr>
            <a:xfrm>
              <a:off x="4200113" y="566927"/>
              <a:ext cx="198299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03</a:t>
              </a:r>
            </a:p>
          </p:txBody>
        </p:sp>
        <p:sp>
          <p:nvSpPr>
            <p:cNvPr id="68" name="ZoneTexte 67">
              <a:extLst>
                <a:ext uri="{FF2B5EF4-FFF2-40B4-BE49-F238E27FC236}">
                  <a16:creationId xmlns:a16="http://schemas.microsoft.com/office/drawing/2014/main" id="{1C1DA11C-D52A-857F-9927-6F0D200564A7}"/>
                </a:ext>
              </a:extLst>
            </p:cNvPr>
            <p:cNvSpPr txBox="1"/>
            <p:nvPr/>
          </p:nvSpPr>
          <p:spPr>
            <a:xfrm>
              <a:off x="4194505" y="2961084"/>
              <a:ext cx="198299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Analysis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Requirements</a:t>
              </a:r>
              <a:endParaRPr lang="fr-FR" sz="2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7B34BD46-A357-90A2-D4C4-29D262B4BBA8}"/>
              </a:ext>
            </a:extLst>
          </p:cNvPr>
          <p:cNvGrpSpPr/>
          <p:nvPr/>
        </p:nvGrpSpPr>
        <p:grpSpPr>
          <a:xfrm>
            <a:off x="-2406634" y="0"/>
            <a:ext cx="2331721" cy="6858000"/>
            <a:chOff x="2086425" y="0"/>
            <a:chExt cx="2331721" cy="6858000"/>
          </a:xfrm>
        </p:grpSpPr>
        <p:grpSp>
          <p:nvGrpSpPr>
            <p:cNvPr id="72" name="Groupe 71">
              <a:extLst>
                <a:ext uri="{FF2B5EF4-FFF2-40B4-BE49-F238E27FC236}">
                  <a16:creationId xmlns:a16="http://schemas.microsoft.com/office/drawing/2014/main" id="{6BF98F13-FA53-BDA1-FBAF-F1BB7509F1AE}"/>
                </a:ext>
              </a:extLst>
            </p:cNvPr>
            <p:cNvGrpSpPr/>
            <p:nvPr/>
          </p:nvGrpSpPr>
          <p:grpSpPr>
            <a:xfrm>
              <a:off x="2086425" y="0"/>
              <a:ext cx="2331721" cy="6858000"/>
              <a:chOff x="2086425" y="0"/>
              <a:chExt cx="2331721" cy="685800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21E0E07-A094-1308-F9D0-D55371BE06F3}"/>
                  </a:ext>
                </a:extLst>
              </p:cNvPr>
              <p:cNvSpPr/>
              <p:nvPr/>
            </p:nvSpPr>
            <p:spPr>
              <a:xfrm>
                <a:off x="2086425" y="0"/>
                <a:ext cx="2086425" cy="6858000"/>
              </a:xfrm>
              <a:prstGeom prst="rect">
                <a:avLst/>
              </a:prstGeom>
              <a:solidFill>
                <a:srgbClr val="266EB0"/>
              </a:solidFill>
              <a:ln>
                <a:solidFill>
                  <a:srgbClr val="266EB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6" name="Triangle isocèle 75">
                <a:extLst>
                  <a:ext uri="{FF2B5EF4-FFF2-40B4-BE49-F238E27FC236}">
                    <a16:creationId xmlns:a16="http://schemas.microsoft.com/office/drawing/2014/main" id="{3254D7FB-EEB6-5C7D-575E-1F5BEBBFA3A0}"/>
                  </a:ext>
                </a:extLst>
              </p:cNvPr>
              <p:cNvSpPr/>
              <p:nvPr/>
            </p:nvSpPr>
            <p:spPr>
              <a:xfrm rot="5400000">
                <a:off x="3938883" y="800896"/>
                <a:ext cx="713232" cy="245295"/>
              </a:xfrm>
              <a:prstGeom prst="triangle">
                <a:avLst/>
              </a:prstGeom>
              <a:solidFill>
                <a:srgbClr val="266EB0"/>
              </a:solidFill>
              <a:ln>
                <a:solidFill>
                  <a:srgbClr val="266EB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5D3806AA-C948-6A05-3CD4-BBC440807D1F}"/>
                </a:ext>
              </a:extLst>
            </p:cNvPr>
            <p:cNvSpPr txBox="1"/>
            <p:nvPr/>
          </p:nvSpPr>
          <p:spPr>
            <a:xfrm>
              <a:off x="2113686" y="566927"/>
              <a:ext cx="205571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02</a:t>
              </a:r>
            </a:p>
          </p:txBody>
        </p:sp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0E5F6105-DBA3-66C8-8612-37B8EF2C00FA}"/>
                </a:ext>
              </a:extLst>
            </p:cNvPr>
            <p:cNvSpPr txBox="1"/>
            <p:nvPr/>
          </p:nvSpPr>
          <p:spPr>
            <a:xfrm>
              <a:off x="2120580" y="2961084"/>
              <a:ext cx="20557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Objectives</a:t>
              </a:r>
            </a:p>
          </p:txBody>
        </p:sp>
      </p:grpSp>
      <p:grpSp>
        <p:nvGrpSpPr>
          <p:cNvPr id="77" name="Groupe 76">
            <a:extLst>
              <a:ext uri="{FF2B5EF4-FFF2-40B4-BE49-F238E27FC236}">
                <a16:creationId xmlns:a16="http://schemas.microsoft.com/office/drawing/2014/main" id="{38695760-9653-1040-9C31-419C8D6D9988}"/>
              </a:ext>
            </a:extLst>
          </p:cNvPr>
          <p:cNvGrpSpPr/>
          <p:nvPr/>
        </p:nvGrpSpPr>
        <p:grpSpPr>
          <a:xfrm>
            <a:off x="-2577770" y="-9137"/>
            <a:ext cx="2331720" cy="6858000"/>
            <a:chOff x="0" y="0"/>
            <a:chExt cx="2331720" cy="6858000"/>
          </a:xfrm>
          <a:solidFill>
            <a:srgbClr val="1C4F7E"/>
          </a:solidFill>
        </p:grpSpPr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12E10E20-5059-E83C-FC04-BB457E91D548}"/>
                </a:ext>
              </a:extLst>
            </p:cNvPr>
            <p:cNvGrpSpPr/>
            <p:nvPr/>
          </p:nvGrpSpPr>
          <p:grpSpPr>
            <a:xfrm>
              <a:off x="0" y="0"/>
              <a:ext cx="2331720" cy="6858000"/>
              <a:chOff x="0" y="0"/>
              <a:chExt cx="2331720" cy="6858000"/>
            </a:xfrm>
            <a:grpFill/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B09B2C5-8426-49C9-741B-61C0E35B76B6}"/>
                  </a:ext>
                </a:extLst>
              </p:cNvPr>
              <p:cNvSpPr/>
              <p:nvPr/>
            </p:nvSpPr>
            <p:spPr>
              <a:xfrm>
                <a:off x="0" y="0"/>
                <a:ext cx="2086425" cy="6858000"/>
              </a:xfrm>
              <a:prstGeom prst="rect">
                <a:avLst/>
              </a:prstGeom>
              <a:grpFill/>
              <a:ln>
                <a:solidFill>
                  <a:srgbClr val="1C4F7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2" name="Triangle isocèle 81">
                <a:extLst>
                  <a:ext uri="{FF2B5EF4-FFF2-40B4-BE49-F238E27FC236}">
                    <a16:creationId xmlns:a16="http://schemas.microsoft.com/office/drawing/2014/main" id="{B412C076-F440-7C47-DCC4-516CAB4C4D13}"/>
                  </a:ext>
                </a:extLst>
              </p:cNvPr>
              <p:cNvSpPr/>
              <p:nvPr/>
            </p:nvSpPr>
            <p:spPr>
              <a:xfrm rot="5400000">
                <a:off x="1852457" y="800896"/>
                <a:ext cx="713232" cy="245295"/>
              </a:xfrm>
              <a:prstGeom prst="triangle">
                <a:avLst/>
              </a:prstGeom>
              <a:grpFill/>
              <a:ln>
                <a:solidFill>
                  <a:srgbClr val="1C4F7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8A5B638F-7440-8EA9-12F3-76288F7CE2AC}"/>
                </a:ext>
              </a:extLst>
            </p:cNvPr>
            <p:cNvSpPr txBox="1"/>
            <p:nvPr/>
          </p:nvSpPr>
          <p:spPr>
            <a:xfrm>
              <a:off x="11984" y="566927"/>
              <a:ext cx="2096610" cy="11079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01</a:t>
              </a:r>
            </a:p>
          </p:txBody>
        </p: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BB4AFBD5-919B-5325-2AFE-CA8C6D317668}"/>
                </a:ext>
              </a:extLst>
            </p:cNvPr>
            <p:cNvSpPr txBox="1"/>
            <p:nvPr/>
          </p:nvSpPr>
          <p:spPr>
            <a:xfrm>
              <a:off x="0" y="2961084"/>
              <a:ext cx="2097510" cy="13849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Context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and </a:t>
              </a:r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Problem</a:t>
              </a:r>
              <a:r>
                <a:rPr lang="fr-FR" sz="2800" b="1" dirty="0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fr-FR" sz="2800" b="1" dirty="0" err="1">
                  <a:solidFill>
                    <a:schemeClr val="bg1"/>
                  </a:solidFill>
                  <a:latin typeface="Bahnschrift Condensed" panose="020B0502040204020203" pitchFamily="34" charset="0"/>
                </a:rPr>
                <a:t>Statement</a:t>
              </a:r>
              <a:endParaRPr lang="fr-FR" sz="2800" b="1" dirty="0">
                <a:solidFill>
                  <a:schemeClr val="bg1"/>
                </a:solidFill>
                <a:latin typeface="Bahnschrift Condense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3877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576</Words>
  <Application>Microsoft Macintosh PowerPoint</Application>
  <PresentationFormat>Widescreen</PresentationFormat>
  <Paragraphs>162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Akira Expanded</vt:lpstr>
      <vt:lpstr>Aptos</vt:lpstr>
      <vt:lpstr>Aptos Display</vt:lpstr>
      <vt:lpstr>Arial</vt:lpstr>
      <vt:lpstr>Bahnschrift Condensed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Nizar EL IDRYSY</cp:lastModifiedBy>
  <cp:revision>7</cp:revision>
  <dcterms:created xsi:type="dcterms:W3CDTF">2026-01-09T09:21:44Z</dcterms:created>
  <dcterms:modified xsi:type="dcterms:W3CDTF">2026-01-10T18:53:27Z</dcterms:modified>
</cp:coreProperties>
</file>